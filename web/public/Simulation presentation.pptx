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7" r:id="rId9"/>
    <p:sldId id="268" r:id="rId10"/>
    <p:sldId id="263" r:id="rId11"/>
    <p:sldId id="264" r:id="rId12"/>
    <p:sldId id="265" r:id="rId13"/>
    <p:sldId id="266"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4169E1"/>
    <a:srgbClr val="2A52BE"/>
    <a:srgbClr val="5B7C99"/>
    <a:srgbClr val="002642"/>
    <a:srgbClr val="0D3B66"/>
    <a:srgbClr val="6F2C3E"/>
    <a:srgbClr val="5D1725"/>
    <a:srgbClr val="850928"/>
    <a:srgbClr val="88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38FBE-2C13-47DF-A1C8-8492451B4973}"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38C72F-1276-43D0-99F1-C2B98D3E993C}" type="slidenum">
              <a:rPr lang="en-US" smtClean="0"/>
              <a:t>‹#›</a:t>
            </a:fld>
            <a:endParaRPr lang="en-US"/>
          </a:p>
        </p:txBody>
      </p:sp>
    </p:spTree>
    <p:extLst>
      <p:ext uri="{BB962C8B-B14F-4D97-AF65-F5344CB8AC3E}">
        <p14:creationId xmlns:p14="http://schemas.microsoft.com/office/powerpoint/2010/main" val="942831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Good morning/afternoon. Today I present a 3D finite element analysis of a spur gear assembly, simulating contact stresses and plastic deformation under high torque conditions.</a:t>
            </a:r>
          </a:p>
        </p:txBody>
      </p:sp>
      <p:sp>
        <p:nvSpPr>
          <p:cNvPr id="4" name="Slide Number Placeholder 3"/>
          <p:cNvSpPr>
            <a:spLocks noGrp="1"/>
          </p:cNvSpPr>
          <p:nvPr>
            <p:ph type="sldNum" sz="quarter" idx="5"/>
          </p:nvPr>
        </p:nvSpPr>
        <p:spPr/>
        <p:txBody>
          <a:bodyPr/>
          <a:lstStyle/>
          <a:p>
            <a:fld id="{DA38C72F-1276-43D0-99F1-C2B98D3E993C}" type="slidenum">
              <a:rPr lang="en-US" smtClean="0"/>
              <a:t>1</a:t>
            </a:fld>
            <a:endParaRPr lang="en-US"/>
          </a:p>
        </p:txBody>
      </p:sp>
    </p:spTree>
    <p:extLst>
      <p:ext uri="{BB962C8B-B14F-4D97-AF65-F5344CB8AC3E}">
        <p14:creationId xmlns:p14="http://schemas.microsoft.com/office/powerpoint/2010/main" val="3658455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While the standard requirement is a 2D analysis, this project employs a full 3D simulation. This allows us to observe stress concentrations along the face width and realistic contact pressures that 2D plane strain assumptions might miss.</a:t>
            </a:r>
          </a:p>
        </p:txBody>
      </p:sp>
      <p:sp>
        <p:nvSpPr>
          <p:cNvPr id="4" name="Slide Number Placeholder 3"/>
          <p:cNvSpPr>
            <a:spLocks noGrp="1"/>
          </p:cNvSpPr>
          <p:nvPr>
            <p:ph type="sldNum" sz="quarter" idx="5"/>
          </p:nvPr>
        </p:nvSpPr>
        <p:spPr/>
        <p:txBody>
          <a:bodyPr/>
          <a:lstStyle/>
          <a:p>
            <a:fld id="{DA38C72F-1276-43D0-99F1-C2B98D3E993C}" type="slidenum">
              <a:rPr lang="en-US" smtClean="0"/>
              <a:t>2</a:t>
            </a:fld>
            <a:endParaRPr lang="en-US"/>
          </a:p>
        </p:txBody>
      </p:sp>
    </p:spTree>
    <p:extLst>
      <p:ext uri="{BB962C8B-B14F-4D97-AF65-F5344CB8AC3E}">
        <p14:creationId xmlns:p14="http://schemas.microsoft.com/office/powerpoint/2010/main" val="3757921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Based on my index ending in 494, the Gear diameter is set to 494mm. To prevent undercutting in the pinion, I selected a minimum of 20 teeth, which resulted in a module of 4.94 mm.</a:t>
            </a:r>
          </a:p>
        </p:txBody>
      </p:sp>
      <p:sp>
        <p:nvSpPr>
          <p:cNvPr id="4" name="Slide Number Placeholder 3"/>
          <p:cNvSpPr>
            <a:spLocks noGrp="1"/>
          </p:cNvSpPr>
          <p:nvPr>
            <p:ph type="sldNum" sz="quarter" idx="5"/>
          </p:nvPr>
        </p:nvSpPr>
        <p:spPr/>
        <p:txBody>
          <a:bodyPr/>
          <a:lstStyle/>
          <a:p>
            <a:fld id="{DA38C72F-1276-43D0-99F1-C2B98D3E993C}" type="slidenum">
              <a:rPr lang="en-US" smtClean="0"/>
              <a:t>3</a:t>
            </a:fld>
            <a:endParaRPr lang="en-US"/>
          </a:p>
        </p:txBody>
      </p:sp>
    </p:spTree>
    <p:extLst>
      <p:ext uri="{BB962C8B-B14F-4D97-AF65-F5344CB8AC3E}">
        <p14:creationId xmlns:p14="http://schemas.microsoft.com/office/powerpoint/2010/main" val="2533601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key decision was made regarding the load units. Since the project requires analyzing plasticity, a torque of 494 </a:t>
            </a:r>
            <a:r>
              <a:rPr lang="en-US" dirty="0" err="1"/>
              <a:t>Nmm</a:t>
            </a:r>
            <a:r>
              <a:rPr lang="en-US" dirty="0"/>
              <a:t> would be insufficient to yield steel. Therefore, 494 Nm was chosen to simulate a realistic failure scenario.</a:t>
            </a:r>
          </a:p>
        </p:txBody>
      </p:sp>
      <p:sp>
        <p:nvSpPr>
          <p:cNvPr id="4" name="Slide Number Placeholder 3"/>
          <p:cNvSpPr>
            <a:spLocks noGrp="1"/>
          </p:cNvSpPr>
          <p:nvPr>
            <p:ph type="sldNum" sz="quarter" idx="5"/>
          </p:nvPr>
        </p:nvSpPr>
        <p:spPr/>
        <p:txBody>
          <a:bodyPr/>
          <a:lstStyle/>
          <a:p>
            <a:fld id="{DA38C72F-1276-43D0-99F1-C2B98D3E993C}" type="slidenum">
              <a:rPr lang="en-US" smtClean="0"/>
              <a:t>4</a:t>
            </a:fld>
            <a:endParaRPr lang="en-US"/>
          </a:p>
        </p:txBody>
      </p:sp>
    </p:spTree>
    <p:extLst>
      <p:ext uri="{BB962C8B-B14F-4D97-AF65-F5344CB8AC3E}">
        <p14:creationId xmlns:p14="http://schemas.microsoft.com/office/powerpoint/2010/main" val="1443898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simulation workflow emphasizes geometric accuracy. Instead of sketching approximations within the FEA tool, I utilized </a:t>
            </a:r>
            <a:r>
              <a:rPr lang="en-US" b="1" dirty="0"/>
              <a:t>Solid Edge 2025</a:t>
            </a:r>
            <a:r>
              <a:rPr lang="en-US" dirty="0"/>
              <a:t> to generate the precise mathematical involute profiles of the gears. These were then exported to Abaqus for the physics setup, followed by a rigorous mesh convergence study to validate the results.</a:t>
            </a:r>
          </a:p>
        </p:txBody>
      </p:sp>
      <p:sp>
        <p:nvSpPr>
          <p:cNvPr id="4" name="Slide Number Placeholder 3"/>
          <p:cNvSpPr>
            <a:spLocks noGrp="1"/>
          </p:cNvSpPr>
          <p:nvPr>
            <p:ph type="sldNum" sz="quarter" idx="5"/>
          </p:nvPr>
        </p:nvSpPr>
        <p:spPr/>
        <p:txBody>
          <a:bodyPr/>
          <a:lstStyle/>
          <a:p>
            <a:fld id="{DA38C72F-1276-43D0-99F1-C2B98D3E993C}" type="slidenum">
              <a:rPr lang="en-US" smtClean="0"/>
              <a:t>5</a:t>
            </a:fld>
            <a:endParaRPr lang="en-US"/>
          </a:p>
        </p:txBody>
      </p:sp>
    </p:spTree>
    <p:extLst>
      <p:ext uri="{BB962C8B-B14F-4D97-AF65-F5344CB8AC3E}">
        <p14:creationId xmlns:p14="http://schemas.microsoft.com/office/powerpoint/2010/main" val="199601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material, Stainless Steel was selected. Since the objective is to capture permanent deformation, defining only the Elastic properties like Young's Modulus is not enough. Therefore, I incorporated the </a:t>
            </a:r>
            <a:r>
              <a:rPr lang="en-US" b="1" dirty="0"/>
              <a:t>Plasticity data</a:t>
            </a:r>
            <a:r>
              <a:rPr lang="en-US" dirty="0"/>
              <a:t>—specifically the yield stress and plastic strain values—to allow the solver to predict behavior after the material exceeds its yield point.</a:t>
            </a:r>
          </a:p>
        </p:txBody>
      </p:sp>
      <p:sp>
        <p:nvSpPr>
          <p:cNvPr id="4" name="Slide Number Placeholder 3"/>
          <p:cNvSpPr>
            <a:spLocks noGrp="1"/>
          </p:cNvSpPr>
          <p:nvPr>
            <p:ph type="sldNum" sz="quarter" idx="5"/>
          </p:nvPr>
        </p:nvSpPr>
        <p:spPr/>
        <p:txBody>
          <a:bodyPr/>
          <a:lstStyle/>
          <a:p>
            <a:fld id="{DA38C72F-1276-43D0-99F1-C2B98D3E993C}" type="slidenum">
              <a:rPr lang="en-US" smtClean="0"/>
              <a:t>6</a:t>
            </a:fld>
            <a:endParaRPr lang="en-US"/>
          </a:p>
        </p:txBody>
      </p:sp>
    </p:spTree>
    <p:extLst>
      <p:ext uri="{BB962C8B-B14F-4D97-AF65-F5344CB8AC3E}">
        <p14:creationId xmlns:p14="http://schemas.microsoft.com/office/powerpoint/2010/main" val="3484398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ensure the highest accuracy of the contact simulation, I avoided manual sketching. Instead, I used the parametric Spur Gear Designer in Solid Edge 2025, inputting the calculated module of 4.94mm to generate the exact involute geometry.</a:t>
            </a:r>
          </a:p>
        </p:txBody>
      </p:sp>
      <p:sp>
        <p:nvSpPr>
          <p:cNvPr id="4" name="Slide Number Placeholder 3"/>
          <p:cNvSpPr>
            <a:spLocks noGrp="1"/>
          </p:cNvSpPr>
          <p:nvPr>
            <p:ph type="sldNum" sz="quarter" idx="5"/>
          </p:nvPr>
        </p:nvSpPr>
        <p:spPr/>
        <p:txBody>
          <a:bodyPr/>
          <a:lstStyle/>
          <a:p>
            <a:fld id="{DA38C72F-1276-43D0-99F1-C2B98D3E993C}" type="slidenum">
              <a:rPr lang="en-US" smtClean="0"/>
              <a:t>7</a:t>
            </a:fld>
            <a:endParaRPr lang="en-US"/>
          </a:p>
        </p:txBody>
      </p:sp>
    </p:spTree>
    <p:extLst>
      <p:ext uri="{BB962C8B-B14F-4D97-AF65-F5344CB8AC3E}">
        <p14:creationId xmlns:p14="http://schemas.microsoft.com/office/powerpoint/2010/main" val="1257954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E2A6F-8CA8-00F7-7B2E-152DFFB281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905F5-1CBC-7997-EC86-6AF3942CAB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3CD05-1934-7083-9B0B-836A9676725E}"/>
              </a:ext>
            </a:extLst>
          </p:cNvPr>
          <p:cNvSpPr>
            <a:spLocks noGrp="1"/>
          </p:cNvSpPr>
          <p:nvPr>
            <p:ph type="body" idx="1"/>
          </p:nvPr>
        </p:nvSpPr>
        <p:spPr/>
        <p:txBody>
          <a:bodyPr/>
          <a:lstStyle/>
          <a:p>
            <a:r>
              <a:rPr lang="en-US" dirty="0"/>
              <a:t>To ensure the highest accuracy of the contact simulation, I avoided manual sketching. Instead, I used the parametric Spur Gear Designer in Solid Edge 2025, inputting the calculated module of 4.94mm to generate the exact involute geometry.</a:t>
            </a:r>
          </a:p>
        </p:txBody>
      </p:sp>
      <p:sp>
        <p:nvSpPr>
          <p:cNvPr id="4" name="Slide Number Placeholder 3">
            <a:extLst>
              <a:ext uri="{FF2B5EF4-FFF2-40B4-BE49-F238E27FC236}">
                <a16:creationId xmlns:a16="http://schemas.microsoft.com/office/drawing/2014/main" id="{4EECDE70-F716-17C6-0305-5AC1171DD2B2}"/>
              </a:ext>
            </a:extLst>
          </p:cNvPr>
          <p:cNvSpPr>
            <a:spLocks noGrp="1"/>
          </p:cNvSpPr>
          <p:nvPr>
            <p:ph type="sldNum" sz="quarter" idx="5"/>
          </p:nvPr>
        </p:nvSpPr>
        <p:spPr/>
        <p:txBody>
          <a:bodyPr/>
          <a:lstStyle/>
          <a:p>
            <a:fld id="{DA38C72F-1276-43D0-99F1-C2B98D3E993C}" type="slidenum">
              <a:rPr lang="en-US" smtClean="0"/>
              <a:t>8</a:t>
            </a:fld>
            <a:endParaRPr lang="en-US"/>
          </a:p>
        </p:txBody>
      </p:sp>
    </p:spTree>
    <p:extLst>
      <p:ext uri="{BB962C8B-B14F-4D97-AF65-F5344CB8AC3E}">
        <p14:creationId xmlns:p14="http://schemas.microsoft.com/office/powerpoint/2010/main" val="1514073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0BD7E-CB27-A836-B721-4766D6B07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48831-080C-478D-553F-4A81699D25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7B17E-5A1F-6C50-59D8-3DA2968F615D}"/>
              </a:ext>
            </a:extLst>
          </p:cNvPr>
          <p:cNvSpPr>
            <a:spLocks noGrp="1"/>
          </p:cNvSpPr>
          <p:nvPr>
            <p:ph type="body" idx="1"/>
          </p:nvPr>
        </p:nvSpPr>
        <p:spPr/>
        <p:txBody>
          <a:bodyPr/>
          <a:lstStyle/>
          <a:p>
            <a:r>
              <a:rPr lang="en-US" dirty="0"/>
              <a:t>To ensure the highest accuracy of the contact simulation, I avoided manual sketching. Instead, I used the parametric Spur Gear Designer in Solid Edge 2025, inputting the calculated module of 4.94mm to generate the exact involute geometry.</a:t>
            </a:r>
          </a:p>
        </p:txBody>
      </p:sp>
      <p:sp>
        <p:nvSpPr>
          <p:cNvPr id="4" name="Slide Number Placeholder 3">
            <a:extLst>
              <a:ext uri="{FF2B5EF4-FFF2-40B4-BE49-F238E27FC236}">
                <a16:creationId xmlns:a16="http://schemas.microsoft.com/office/drawing/2014/main" id="{5FA29D65-56EC-170F-CFAF-CF2877FA70B6}"/>
              </a:ext>
            </a:extLst>
          </p:cNvPr>
          <p:cNvSpPr>
            <a:spLocks noGrp="1"/>
          </p:cNvSpPr>
          <p:nvPr>
            <p:ph type="sldNum" sz="quarter" idx="5"/>
          </p:nvPr>
        </p:nvSpPr>
        <p:spPr/>
        <p:txBody>
          <a:bodyPr/>
          <a:lstStyle/>
          <a:p>
            <a:fld id="{DA38C72F-1276-43D0-99F1-C2B98D3E993C}" type="slidenum">
              <a:rPr lang="en-US" smtClean="0"/>
              <a:t>9</a:t>
            </a:fld>
            <a:endParaRPr lang="en-US"/>
          </a:p>
        </p:txBody>
      </p:sp>
    </p:spTree>
    <p:extLst>
      <p:ext uri="{BB962C8B-B14F-4D97-AF65-F5344CB8AC3E}">
        <p14:creationId xmlns:p14="http://schemas.microsoft.com/office/powerpoint/2010/main" val="1282248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pre-processing, the assembly was imported as a STEP file. Unlike manual assembly within Abaqus, which is prone to positioning errors, this method preserved the exact center distance and contact interface defined in Solid Edge.</a:t>
            </a:r>
          </a:p>
        </p:txBody>
      </p:sp>
      <p:sp>
        <p:nvSpPr>
          <p:cNvPr id="4" name="Slide Number Placeholder 3"/>
          <p:cNvSpPr>
            <a:spLocks noGrp="1"/>
          </p:cNvSpPr>
          <p:nvPr>
            <p:ph type="sldNum" sz="quarter" idx="5"/>
          </p:nvPr>
        </p:nvSpPr>
        <p:spPr/>
        <p:txBody>
          <a:bodyPr/>
          <a:lstStyle/>
          <a:p>
            <a:fld id="{DA38C72F-1276-43D0-99F1-C2B98D3E993C}" type="slidenum">
              <a:rPr lang="en-US" smtClean="0"/>
              <a:t>10</a:t>
            </a:fld>
            <a:endParaRPr lang="en-US"/>
          </a:p>
        </p:txBody>
      </p:sp>
    </p:spTree>
    <p:extLst>
      <p:ext uri="{BB962C8B-B14F-4D97-AF65-F5344CB8AC3E}">
        <p14:creationId xmlns:p14="http://schemas.microsoft.com/office/powerpoint/2010/main" val="3108177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capture realistic failure modes, I defined Stainless Steel with both elastic and plastic properties. The plasticity data allows the simulation to predict permanent deformation at the gear teeth under high stress, rather than assuming infinite elasticity.</a:t>
            </a:r>
          </a:p>
        </p:txBody>
      </p:sp>
      <p:sp>
        <p:nvSpPr>
          <p:cNvPr id="4" name="Slide Number Placeholder 3"/>
          <p:cNvSpPr>
            <a:spLocks noGrp="1"/>
          </p:cNvSpPr>
          <p:nvPr>
            <p:ph type="sldNum" sz="quarter" idx="5"/>
          </p:nvPr>
        </p:nvSpPr>
        <p:spPr/>
        <p:txBody>
          <a:bodyPr/>
          <a:lstStyle/>
          <a:p>
            <a:fld id="{DA38C72F-1276-43D0-99F1-C2B98D3E993C}" type="slidenum">
              <a:rPr lang="en-US" smtClean="0"/>
              <a:t>11</a:t>
            </a:fld>
            <a:endParaRPr lang="en-US"/>
          </a:p>
        </p:txBody>
      </p:sp>
    </p:spTree>
    <p:extLst>
      <p:ext uri="{BB962C8B-B14F-4D97-AF65-F5344CB8AC3E}">
        <p14:creationId xmlns:p14="http://schemas.microsoft.com/office/powerpoint/2010/main" val="361205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82985-BA2F-868F-FC2F-295718F0E1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D22FC4-C8E7-7DF6-EF8B-B9779C2A48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C683AD-6144-4FF9-1CD9-7D50ADF4FA9F}"/>
              </a:ext>
            </a:extLst>
          </p:cNvPr>
          <p:cNvSpPr>
            <a:spLocks noGrp="1"/>
          </p:cNvSpPr>
          <p:nvPr>
            <p:ph type="dt" sz="half" idx="10"/>
          </p:nvPr>
        </p:nvSpPr>
        <p:spPr/>
        <p:txBody>
          <a:bodyPr/>
          <a:lstStyle/>
          <a:p>
            <a:fld id="{E8BD6B1E-3B4B-4537-9BDB-FB089A70D91A}" type="datetime1">
              <a:rPr lang="en-US" smtClean="0"/>
              <a:t>9/25/2026</a:t>
            </a:fld>
            <a:endParaRPr lang="en-US"/>
          </a:p>
        </p:txBody>
      </p:sp>
      <p:sp>
        <p:nvSpPr>
          <p:cNvPr id="5" name="Footer Placeholder 4">
            <a:extLst>
              <a:ext uri="{FF2B5EF4-FFF2-40B4-BE49-F238E27FC236}">
                <a16:creationId xmlns:a16="http://schemas.microsoft.com/office/drawing/2014/main" id="{6321AD00-EC12-E70E-4CDA-B8E3FE1815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B9B3F4-CC99-8322-9254-72200803B6AB}"/>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2082255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7986-8C65-BDD5-F595-BA6ADEC353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3248FB-07C7-BE6B-89C6-A325766403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E27B6A-1DDA-2C7A-6C48-2510680D2BD9}"/>
              </a:ext>
            </a:extLst>
          </p:cNvPr>
          <p:cNvSpPr>
            <a:spLocks noGrp="1"/>
          </p:cNvSpPr>
          <p:nvPr>
            <p:ph type="dt" sz="half" idx="10"/>
          </p:nvPr>
        </p:nvSpPr>
        <p:spPr/>
        <p:txBody>
          <a:bodyPr/>
          <a:lstStyle/>
          <a:p>
            <a:fld id="{6A811EF9-80D0-4207-85DA-A7D75F745B18}" type="datetime1">
              <a:rPr lang="en-US" smtClean="0"/>
              <a:t>9/25/2026</a:t>
            </a:fld>
            <a:endParaRPr lang="en-US"/>
          </a:p>
        </p:txBody>
      </p:sp>
      <p:sp>
        <p:nvSpPr>
          <p:cNvPr id="5" name="Footer Placeholder 4">
            <a:extLst>
              <a:ext uri="{FF2B5EF4-FFF2-40B4-BE49-F238E27FC236}">
                <a16:creationId xmlns:a16="http://schemas.microsoft.com/office/drawing/2014/main" id="{9D94A16A-E41C-21E2-0136-303008BFF2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2E6FD5-09C9-D5F8-5C01-1AA667552AC5}"/>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3504175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FB868-F93E-FF80-CEBF-7D89060F49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BAB364-6017-1841-E995-07A6F0A54E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09B57C-3101-7311-FA71-9F40830D81E1}"/>
              </a:ext>
            </a:extLst>
          </p:cNvPr>
          <p:cNvSpPr>
            <a:spLocks noGrp="1"/>
          </p:cNvSpPr>
          <p:nvPr>
            <p:ph type="dt" sz="half" idx="10"/>
          </p:nvPr>
        </p:nvSpPr>
        <p:spPr/>
        <p:txBody>
          <a:bodyPr/>
          <a:lstStyle/>
          <a:p>
            <a:fld id="{7B9D79FA-5DD4-484D-ABD0-001EF1DD6A53}" type="datetime1">
              <a:rPr lang="en-US" smtClean="0"/>
              <a:t>9/25/2026</a:t>
            </a:fld>
            <a:endParaRPr lang="en-US"/>
          </a:p>
        </p:txBody>
      </p:sp>
      <p:sp>
        <p:nvSpPr>
          <p:cNvPr id="5" name="Footer Placeholder 4">
            <a:extLst>
              <a:ext uri="{FF2B5EF4-FFF2-40B4-BE49-F238E27FC236}">
                <a16:creationId xmlns:a16="http://schemas.microsoft.com/office/drawing/2014/main" id="{C59C9040-CE87-49BF-8056-338897FFE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37AD97-3794-79B0-A8BA-C821DF423D2B}"/>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199165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16D0D-B2E5-9F6F-43C3-4AE100F034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07C1AE-9A84-52FE-1282-05C6383075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E1E0B4-F87C-1835-4B06-D8C9DF1694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5D0843-6E2B-0C9E-A85A-D0C045508AEF}"/>
              </a:ext>
            </a:extLst>
          </p:cNvPr>
          <p:cNvSpPr>
            <a:spLocks noGrp="1"/>
          </p:cNvSpPr>
          <p:nvPr>
            <p:ph type="dt" sz="half" idx="10"/>
          </p:nvPr>
        </p:nvSpPr>
        <p:spPr/>
        <p:txBody>
          <a:bodyPr/>
          <a:lstStyle/>
          <a:p>
            <a:fld id="{0F21ED4C-E2E0-4D60-B2B7-3CA0538F0940}" type="datetime1">
              <a:rPr lang="en-US" smtClean="0"/>
              <a:t>9/25/2026</a:t>
            </a:fld>
            <a:endParaRPr lang="en-US"/>
          </a:p>
        </p:txBody>
      </p:sp>
      <p:sp>
        <p:nvSpPr>
          <p:cNvPr id="6" name="Footer Placeholder 5">
            <a:extLst>
              <a:ext uri="{FF2B5EF4-FFF2-40B4-BE49-F238E27FC236}">
                <a16:creationId xmlns:a16="http://schemas.microsoft.com/office/drawing/2014/main" id="{2A13D157-2EAA-C6CE-F2AE-224207740C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6EBED-5B63-EA47-06F8-2A67AD6353D9}"/>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1358350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D7D2-AD29-1630-6B27-1D5262A6A3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CFD7252-6F70-3BF5-2008-461827AE72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C8E934-B50E-713B-B8CF-A9FC50E5AE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BAC5E3-79C5-F64A-159F-B26E52567A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3A6AEE-A36B-391B-DEBF-CD0E9A2653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C8E18C-B4EA-ED60-42D0-E97DE02BE8E6}"/>
              </a:ext>
            </a:extLst>
          </p:cNvPr>
          <p:cNvSpPr>
            <a:spLocks noGrp="1"/>
          </p:cNvSpPr>
          <p:nvPr>
            <p:ph type="dt" sz="half" idx="10"/>
          </p:nvPr>
        </p:nvSpPr>
        <p:spPr/>
        <p:txBody>
          <a:bodyPr/>
          <a:lstStyle/>
          <a:p>
            <a:fld id="{2F5AD3E0-A660-46FC-ABE2-FE8435EDEB87}" type="datetime1">
              <a:rPr lang="en-US" smtClean="0"/>
              <a:t>9/25/2026</a:t>
            </a:fld>
            <a:endParaRPr lang="en-US"/>
          </a:p>
        </p:txBody>
      </p:sp>
      <p:sp>
        <p:nvSpPr>
          <p:cNvPr id="8" name="Footer Placeholder 7">
            <a:extLst>
              <a:ext uri="{FF2B5EF4-FFF2-40B4-BE49-F238E27FC236}">
                <a16:creationId xmlns:a16="http://schemas.microsoft.com/office/drawing/2014/main" id="{EC32A6D5-FADF-2CD0-EE98-E3F95F3260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BE05B9-75D1-D5C5-A326-965E2BB0EFC7}"/>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72644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9E45-C788-D91F-A203-4031BEE15F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501807-724A-9B58-BD49-170A8CEADC45}"/>
              </a:ext>
            </a:extLst>
          </p:cNvPr>
          <p:cNvSpPr>
            <a:spLocks noGrp="1"/>
          </p:cNvSpPr>
          <p:nvPr>
            <p:ph type="dt" sz="half" idx="10"/>
          </p:nvPr>
        </p:nvSpPr>
        <p:spPr/>
        <p:txBody>
          <a:bodyPr/>
          <a:lstStyle/>
          <a:p>
            <a:fld id="{AF7BE850-2B96-4E0D-8660-399A92F278A7}" type="datetime1">
              <a:rPr lang="en-US" smtClean="0"/>
              <a:t>9/25/2026</a:t>
            </a:fld>
            <a:endParaRPr lang="en-US"/>
          </a:p>
        </p:txBody>
      </p:sp>
      <p:sp>
        <p:nvSpPr>
          <p:cNvPr id="4" name="Footer Placeholder 3">
            <a:extLst>
              <a:ext uri="{FF2B5EF4-FFF2-40B4-BE49-F238E27FC236}">
                <a16:creationId xmlns:a16="http://schemas.microsoft.com/office/drawing/2014/main" id="{C6915246-CB76-F7FC-94FE-BB85F1A056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8C58EC-9ADC-09FB-ACA5-15BB4C5A73B5}"/>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350256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39F34A-EF9A-7012-97CC-581BCADD8822}"/>
              </a:ext>
            </a:extLst>
          </p:cNvPr>
          <p:cNvSpPr>
            <a:spLocks noGrp="1"/>
          </p:cNvSpPr>
          <p:nvPr>
            <p:ph type="dt" sz="half" idx="10"/>
          </p:nvPr>
        </p:nvSpPr>
        <p:spPr/>
        <p:txBody>
          <a:bodyPr/>
          <a:lstStyle/>
          <a:p>
            <a:fld id="{C408CE4A-EA3D-4C27-90F2-EC5100643E52}" type="datetime1">
              <a:rPr lang="en-US" smtClean="0"/>
              <a:t>9/25/2026</a:t>
            </a:fld>
            <a:endParaRPr lang="en-US"/>
          </a:p>
        </p:txBody>
      </p:sp>
      <p:sp>
        <p:nvSpPr>
          <p:cNvPr id="3" name="Footer Placeholder 2">
            <a:extLst>
              <a:ext uri="{FF2B5EF4-FFF2-40B4-BE49-F238E27FC236}">
                <a16:creationId xmlns:a16="http://schemas.microsoft.com/office/drawing/2014/main" id="{FEB293B3-E418-F506-578F-CB8EA690C35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AEBEEC-E34A-649D-829E-D9B2A305A523}"/>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3579114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861F9-D982-3BC2-45C4-CBC2B8089C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3E8282-9E8A-AE02-CB53-0A394A755D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1D4D9-54A5-90FE-6F5C-7F95043DB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115AC9-BEC8-BEDF-988E-BB1653B52218}"/>
              </a:ext>
            </a:extLst>
          </p:cNvPr>
          <p:cNvSpPr>
            <a:spLocks noGrp="1"/>
          </p:cNvSpPr>
          <p:nvPr>
            <p:ph type="dt" sz="half" idx="10"/>
          </p:nvPr>
        </p:nvSpPr>
        <p:spPr/>
        <p:txBody>
          <a:bodyPr/>
          <a:lstStyle/>
          <a:p>
            <a:fld id="{C4DEA655-32B6-4E65-91A0-405AC38DD647}" type="datetime1">
              <a:rPr lang="en-US" smtClean="0"/>
              <a:t>9/25/2026</a:t>
            </a:fld>
            <a:endParaRPr lang="en-US"/>
          </a:p>
        </p:txBody>
      </p:sp>
      <p:sp>
        <p:nvSpPr>
          <p:cNvPr id="6" name="Footer Placeholder 5">
            <a:extLst>
              <a:ext uri="{FF2B5EF4-FFF2-40B4-BE49-F238E27FC236}">
                <a16:creationId xmlns:a16="http://schemas.microsoft.com/office/drawing/2014/main" id="{1169A352-0C1E-388B-9FD2-3F628A7EBA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4C1CA0-B236-390F-96F6-E832A0469830}"/>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2058152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C088-E96E-36A7-8609-22A2589BF1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0CACA6F-A2B6-BDBE-DB94-7DCAFCF158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22CD6E-B560-A4C9-B9FD-95968957B4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DA4599-61DE-6F06-DBD0-E6DDB39FD6B3}"/>
              </a:ext>
            </a:extLst>
          </p:cNvPr>
          <p:cNvSpPr>
            <a:spLocks noGrp="1"/>
          </p:cNvSpPr>
          <p:nvPr>
            <p:ph type="dt" sz="half" idx="10"/>
          </p:nvPr>
        </p:nvSpPr>
        <p:spPr/>
        <p:txBody>
          <a:bodyPr/>
          <a:lstStyle/>
          <a:p>
            <a:fld id="{88F132FB-2A0E-451D-9FCE-2225EE0B8887}" type="datetime1">
              <a:rPr lang="en-US" smtClean="0"/>
              <a:t>9/25/2026</a:t>
            </a:fld>
            <a:endParaRPr lang="en-US"/>
          </a:p>
        </p:txBody>
      </p:sp>
      <p:sp>
        <p:nvSpPr>
          <p:cNvPr id="6" name="Footer Placeholder 5">
            <a:extLst>
              <a:ext uri="{FF2B5EF4-FFF2-40B4-BE49-F238E27FC236}">
                <a16:creationId xmlns:a16="http://schemas.microsoft.com/office/drawing/2014/main" id="{DE051247-D74B-FFA2-74BC-B1323F59DA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6B1E17-71B0-4F42-662F-EC4C29113631}"/>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1380841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81346-3F3D-5217-ECB9-933AD16056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D1AB85-80FB-A006-23D0-E3989EFA5D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9C699-497D-7E4F-E663-DE53C8360F90}"/>
              </a:ext>
            </a:extLst>
          </p:cNvPr>
          <p:cNvSpPr>
            <a:spLocks noGrp="1"/>
          </p:cNvSpPr>
          <p:nvPr>
            <p:ph type="dt" sz="half" idx="10"/>
          </p:nvPr>
        </p:nvSpPr>
        <p:spPr/>
        <p:txBody>
          <a:bodyPr/>
          <a:lstStyle/>
          <a:p>
            <a:fld id="{E87C9B3B-356C-4833-97DF-BB967E114844}" type="datetime1">
              <a:rPr lang="en-US" smtClean="0"/>
              <a:t>9/25/2026</a:t>
            </a:fld>
            <a:endParaRPr lang="en-US"/>
          </a:p>
        </p:txBody>
      </p:sp>
      <p:sp>
        <p:nvSpPr>
          <p:cNvPr id="5" name="Footer Placeholder 4">
            <a:extLst>
              <a:ext uri="{FF2B5EF4-FFF2-40B4-BE49-F238E27FC236}">
                <a16:creationId xmlns:a16="http://schemas.microsoft.com/office/drawing/2014/main" id="{CD2CC95F-F973-8431-F562-3EA06B7C7A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BDFF1C-7EC3-C734-B3CC-92B42FEAD0D1}"/>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4142381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AE113A-5689-CB64-00D2-84D02B5934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FB9B59-A568-94D7-8B20-9FF0067FE3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B1F5B8-7958-F6DA-E921-37E079E9BABA}"/>
              </a:ext>
            </a:extLst>
          </p:cNvPr>
          <p:cNvSpPr>
            <a:spLocks noGrp="1"/>
          </p:cNvSpPr>
          <p:nvPr>
            <p:ph type="dt" sz="half" idx="10"/>
          </p:nvPr>
        </p:nvSpPr>
        <p:spPr/>
        <p:txBody>
          <a:bodyPr/>
          <a:lstStyle/>
          <a:p>
            <a:fld id="{F4A9AD4D-D117-47CB-B8CA-3AAA1014EB4A}" type="datetime1">
              <a:rPr lang="en-US" smtClean="0"/>
              <a:t>9/25/2026</a:t>
            </a:fld>
            <a:endParaRPr lang="en-US"/>
          </a:p>
        </p:txBody>
      </p:sp>
      <p:sp>
        <p:nvSpPr>
          <p:cNvPr id="5" name="Footer Placeholder 4">
            <a:extLst>
              <a:ext uri="{FF2B5EF4-FFF2-40B4-BE49-F238E27FC236}">
                <a16:creationId xmlns:a16="http://schemas.microsoft.com/office/drawing/2014/main" id="{A5F9A65A-A000-88AF-1814-1D14A5982F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716D1-FD57-B62B-71F2-888FCB6C18AD}"/>
              </a:ext>
            </a:extLst>
          </p:cNvPr>
          <p:cNvSpPr>
            <a:spLocks noGrp="1"/>
          </p:cNvSpPr>
          <p:nvPr>
            <p:ph type="sldNum" sz="quarter" idx="12"/>
          </p:nvPr>
        </p:nvSpPr>
        <p:spPr/>
        <p:txBody>
          <a:bodyPr/>
          <a:lstStyle/>
          <a:p>
            <a:fld id="{780D6419-8A5C-4EF9-A2D6-5BBA12496091}" type="slidenum">
              <a:rPr lang="en-US" smtClean="0"/>
              <a:t>‹#›</a:t>
            </a:fld>
            <a:endParaRPr lang="en-US"/>
          </a:p>
        </p:txBody>
      </p:sp>
    </p:spTree>
    <p:extLst>
      <p:ext uri="{BB962C8B-B14F-4D97-AF65-F5344CB8AC3E}">
        <p14:creationId xmlns:p14="http://schemas.microsoft.com/office/powerpoint/2010/main" val="62085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593FF9-02F7-2BC5-A352-F7BBAE4F71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C47E50-7849-59D8-506D-A721C06110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278B2A-5F43-7834-D31C-FB27FB196F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9FE39A-D120-4F0C-A8BC-A04E4DE3AA69}" type="datetime1">
              <a:rPr lang="en-US" smtClean="0"/>
              <a:t>9/25/2026</a:t>
            </a:fld>
            <a:endParaRPr lang="en-US"/>
          </a:p>
        </p:txBody>
      </p:sp>
      <p:sp>
        <p:nvSpPr>
          <p:cNvPr id="5" name="Footer Placeholder 4">
            <a:extLst>
              <a:ext uri="{FF2B5EF4-FFF2-40B4-BE49-F238E27FC236}">
                <a16:creationId xmlns:a16="http://schemas.microsoft.com/office/drawing/2014/main" id="{5E760FA5-012D-0F6F-235E-8A42A87D20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D94361E-1D79-1467-2161-DAF0D60516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0D6419-8A5C-4EF9-A2D6-5BBA12496091}" type="slidenum">
              <a:rPr lang="en-US" smtClean="0"/>
              <a:t>‹#›</a:t>
            </a:fld>
            <a:endParaRPr lang="en-US"/>
          </a:p>
        </p:txBody>
      </p:sp>
    </p:spTree>
    <p:extLst>
      <p:ext uri="{BB962C8B-B14F-4D97-AF65-F5344CB8AC3E}">
        <p14:creationId xmlns:p14="http://schemas.microsoft.com/office/powerpoint/2010/main" val="12029629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41F533-D438-826D-FF3E-AE7580C7FCE6}"/>
              </a:ext>
            </a:extLst>
          </p:cNvPr>
          <p:cNvPicPr>
            <a:picLocks noChangeAspect="1"/>
          </p:cNvPicPr>
          <p:nvPr/>
        </p:nvPicPr>
        <p:blipFill>
          <a:blip r:embed="rId3">
            <a:extLst>
              <a:ext uri="{28A0092B-C50C-407E-A947-70E740481C1C}">
                <a14:useLocalDpi xmlns:a14="http://schemas.microsoft.com/office/drawing/2010/main" val="0"/>
              </a:ext>
            </a:extLst>
          </a:blip>
          <a:srcRect l="95" t="9663" r="9994" b="9997"/>
          <a:stretch>
            <a:fillRect/>
          </a:stretch>
        </p:blipFill>
        <p:spPr>
          <a:xfrm>
            <a:off x="0" y="0"/>
            <a:ext cx="12192001" cy="6857999"/>
          </a:xfrm>
          <a:prstGeom prst="rect">
            <a:avLst/>
          </a:prstGeom>
        </p:spPr>
      </p:pic>
      <p:sp>
        <p:nvSpPr>
          <p:cNvPr id="2" name="Title 1">
            <a:extLst>
              <a:ext uri="{FF2B5EF4-FFF2-40B4-BE49-F238E27FC236}">
                <a16:creationId xmlns:a16="http://schemas.microsoft.com/office/drawing/2014/main" id="{F73E2DC7-3F4C-B468-3BD4-D9A9FE177A76}"/>
              </a:ext>
            </a:extLst>
          </p:cNvPr>
          <p:cNvSpPr>
            <a:spLocks noGrp="1"/>
          </p:cNvSpPr>
          <p:nvPr>
            <p:ph type="ctrTitle"/>
          </p:nvPr>
        </p:nvSpPr>
        <p:spPr>
          <a:xfrm>
            <a:off x="2400300" y="1237775"/>
            <a:ext cx="9144000" cy="2387600"/>
          </a:xfrm>
        </p:spPr>
        <p:txBody>
          <a:bodyPr>
            <a:normAutofit fontScale="90000"/>
          </a:bodyPr>
          <a:lstStyle/>
          <a:p>
            <a:r>
              <a:rPr lang="en-US" b="1" dirty="0">
                <a:solidFill>
                  <a:schemeClr val="bg1"/>
                </a:solidFill>
              </a:rPr>
              <a:t>3D Contact Stress &amp; Plasticity Analysis of Spur Gears</a:t>
            </a:r>
          </a:p>
        </p:txBody>
      </p:sp>
      <p:sp>
        <p:nvSpPr>
          <p:cNvPr id="3" name="Subtitle 2">
            <a:extLst>
              <a:ext uri="{FF2B5EF4-FFF2-40B4-BE49-F238E27FC236}">
                <a16:creationId xmlns:a16="http://schemas.microsoft.com/office/drawing/2014/main" id="{38858F5F-BCD8-1540-CD94-211D29D39AB2}"/>
              </a:ext>
            </a:extLst>
          </p:cNvPr>
          <p:cNvSpPr>
            <a:spLocks noGrp="1"/>
          </p:cNvSpPr>
          <p:nvPr>
            <p:ph type="subTitle" idx="1"/>
          </p:nvPr>
        </p:nvSpPr>
        <p:spPr>
          <a:xfrm>
            <a:off x="1524000" y="4669267"/>
            <a:ext cx="9144000" cy="538447"/>
          </a:xfrm>
        </p:spPr>
        <p:txBody>
          <a:bodyPr/>
          <a:lstStyle/>
          <a:p>
            <a:r>
              <a:rPr lang="en-US" dirty="0">
                <a:solidFill>
                  <a:schemeClr val="bg1"/>
                </a:solidFill>
              </a:rPr>
              <a:t>FEA Design Project</a:t>
            </a:r>
          </a:p>
        </p:txBody>
      </p:sp>
      <p:sp>
        <p:nvSpPr>
          <p:cNvPr id="5" name="TextBox 4">
            <a:extLst>
              <a:ext uri="{FF2B5EF4-FFF2-40B4-BE49-F238E27FC236}">
                <a16:creationId xmlns:a16="http://schemas.microsoft.com/office/drawing/2014/main" id="{BE4707BC-4993-B6BB-7F00-D1651566A0B8}"/>
              </a:ext>
            </a:extLst>
          </p:cNvPr>
          <p:cNvSpPr txBox="1"/>
          <p:nvPr/>
        </p:nvSpPr>
        <p:spPr>
          <a:xfrm>
            <a:off x="3047144" y="5241577"/>
            <a:ext cx="6097712" cy="646331"/>
          </a:xfrm>
          <a:prstGeom prst="rect">
            <a:avLst/>
          </a:prstGeom>
          <a:noFill/>
        </p:spPr>
        <p:txBody>
          <a:bodyPr wrap="square">
            <a:spAutoFit/>
          </a:bodyPr>
          <a:lstStyle/>
          <a:p>
            <a:pPr algn="ctr"/>
            <a:r>
              <a:rPr lang="en-US" b="0" i="0" dirty="0">
                <a:solidFill>
                  <a:schemeClr val="bg1"/>
                </a:solidFill>
                <a:effectLst/>
              </a:rPr>
              <a:t>210494D</a:t>
            </a:r>
          </a:p>
          <a:p>
            <a:pPr algn="ctr" rtl="0"/>
            <a:r>
              <a:rPr lang="en-US" b="0" i="0" dirty="0">
                <a:solidFill>
                  <a:schemeClr val="bg1"/>
                </a:solidFill>
                <a:effectLst/>
              </a:rPr>
              <a:t>Premakumara H.P.S. </a:t>
            </a:r>
            <a:endParaRPr lang="en-US" dirty="0">
              <a:solidFill>
                <a:schemeClr val="bg1"/>
              </a:solidFill>
              <a:effectLst/>
            </a:endParaRPr>
          </a:p>
        </p:txBody>
      </p:sp>
      <p:cxnSp>
        <p:nvCxnSpPr>
          <p:cNvPr id="7" name="Straight Connector 6">
            <a:extLst>
              <a:ext uri="{FF2B5EF4-FFF2-40B4-BE49-F238E27FC236}">
                <a16:creationId xmlns:a16="http://schemas.microsoft.com/office/drawing/2014/main" id="{4AC75D5B-05D8-7D67-B7D3-683654A90E8A}"/>
              </a:ext>
            </a:extLst>
          </p:cNvPr>
          <p:cNvCxnSpPr>
            <a:cxnSpLocks/>
          </p:cNvCxnSpPr>
          <p:nvPr/>
        </p:nvCxnSpPr>
        <p:spPr>
          <a:xfrm>
            <a:off x="1797978" y="6554912"/>
            <a:ext cx="9144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3A4E711-034A-B046-D511-CA9C2287F646}"/>
              </a:ext>
            </a:extLst>
          </p:cNvPr>
          <p:cNvSpPr txBox="1"/>
          <p:nvPr/>
        </p:nvSpPr>
        <p:spPr>
          <a:xfrm>
            <a:off x="500865" y="6356350"/>
            <a:ext cx="1297113" cy="369332"/>
          </a:xfrm>
          <a:prstGeom prst="rect">
            <a:avLst/>
          </a:prstGeom>
          <a:noFill/>
        </p:spPr>
        <p:txBody>
          <a:bodyPr wrap="square">
            <a:spAutoFit/>
          </a:bodyPr>
          <a:lstStyle/>
          <a:p>
            <a:r>
              <a:rPr lang="en-US" dirty="0">
                <a:solidFill>
                  <a:schemeClr val="bg1"/>
                </a:solidFill>
              </a:rPr>
              <a:t>MT4810</a:t>
            </a:r>
          </a:p>
        </p:txBody>
      </p:sp>
      <p:sp>
        <p:nvSpPr>
          <p:cNvPr id="4" name="Slide Number Placeholder 3">
            <a:extLst>
              <a:ext uri="{FF2B5EF4-FFF2-40B4-BE49-F238E27FC236}">
                <a16:creationId xmlns:a16="http://schemas.microsoft.com/office/drawing/2014/main" id="{8D3096F5-4B1B-3C50-B0EE-923ACC452BBB}"/>
              </a:ext>
            </a:extLst>
          </p:cNvPr>
          <p:cNvSpPr>
            <a:spLocks noGrp="1"/>
          </p:cNvSpPr>
          <p:nvPr>
            <p:ph type="sldNum" sz="quarter" idx="12"/>
          </p:nvPr>
        </p:nvSpPr>
        <p:spPr/>
        <p:txBody>
          <a:bodyPr/>
          <a:lstStyle/>
          <a:p>
            <a:fld id="{780D6419-8A5C-4EF9-A2D6-5BBA12496091}" type="slidenum">
              <a:rPr lang="en-US" smtClean="0"/>
              <a:t>1</a:t>
            </a:fld>
            <a:endParaRPr lang="en-US" dirty="0"/>
          </a:p>
        </p:txBody>
      </p:sp>
    </p:spTree>
    <p:extLst>
      <p:ext uri="{BB962C8B-B14F-4D97-AF65-F5344CB8AC3E}">
        <p14:creationId xmlns:p14="http://schemas.microsoft.com/office/powerpoint/2010/main" val="3168577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06F2A67-D69F-157B-93A8-C44A5DD975F3}"/>
              </a:ext>
            </a:extLst>
          </p:cNvPr>
          <p:cNvSpPr/>
          <p:nvPr/>
        </p:nvSpPr>
        <p:spPr>
          <a:xfrm>
            <a:off x="699926" y="628848"/>
            <a:ext cx="10792146" cy="798116"/>
          </a:xfrm>
          <a:prstGeom prst="roundRect">
            <a:avLst>
              <a:gd name="adj" fmla="val 44919"/>
            </a:avLst>
          </a:prstGeom>
          <a:solidFill>
            <a:srgbClr val="4169E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Title 1">
            <a:extLst>
              <a:ext uri="{FF2B5EF4-FFF2-40B4-BE49-F238E27FC236}">
                <a16:creationId xmlns:a16="http://schemas.microsoft.com/office/drawing/2014/main" id="{E8DC663B-C219-1336-9660-8EF2161D9B24}"/>
              </a:ext>
            </a:extLst>
          </p:cNvPr>
          <p:cNvSpPr>
            <a:spLocks noGrp="1"/>
          </p:cNvSpPr>
          <p:nvPr>
            <p:ph type="title"/>
          </p:nvPr>
        </p:nvSpPr>
        <p:spPr/>
        <p:txBody>
          <a:bodyPr/>
          <a:lstStyle/>
          <a:p>
            <a:r>
              <a:rPr lang="en-US" b="1" dirty="0">
                <a:solidFill>
                  <a:schemeClr val="bg1"/>
                </a:solidFill>
              </a:rPr>
              <a:t>Objectives &amp; Engineering Strategy</a:t>
            </a:r>
          </a:p>
        </p:txBody>
      </p:sp>
      <p:sp>
        <p:nvSpPr>
          <p:cNvPr id="4" name="Slide Number Placeholder 3">
            <a:extLst>
              <a:ext uri="{FF2B5EF4-FFF2-40B4-BE49-F238E27FC236}">
                <a16:creationId xmlns:a16="http://schemas.microsoft.com/office/drawing/2014/main" id="{D4694705-C5C9-848E-84E8-D3E2C05D1E63}"/>
              </a:ext>
            </a:extLst>
          </p:cNvPr>
          <p:cNvSpPr>
            <a:spLocks noGrp="1"/>
          </p:cNvSpPr>
          <p:nvPr>
            <p:ph type="sldNum" sz="quarter" idx="12"/>
          </p:nvPr>
        </p:nvSpPr>
        <p:spPr/>
        <p:txBody>
          <a:bodyPr/>
          <a:lstStyle/>
          <a:p>
            <a:fld id="{780D6419-8A5C-4EF9-A2D6-5BBA12496091}" type="slidenum">
              <a:rPr lang="en-US" smtClean="0"/>
              <a:t>2</a:t>
            </a:fld>
            <a:endParaRPr lang="en-US" dirty="0"/>
          </a:p>
        </p:txBody>
      </p:sp>
      <p:sp>
        <p:nvSpPr>
          <p:cNvPr id="5" name="Content Placeholder 2">
            <a:extLst>
              <a:ext uri="{FF2B5EF4-FFF2-40B4-BE49-F238E27FC236}">
                <a16:creationId xmlns:a16="http://schemas.microsoft.com/office/drawing/2014/main" id="{BB08C241-84AE-4A9F-0B95-06FA25749F28}"/>
              </a:ext>
            </a:extLst>
          </p:cNvPr>
          <p:cNvSpPr txBox="1">
            <a:spLocks/>
          </p:cNvSpPr>
          <p:nvPr/>
        </p:nvSpPr>
        <p:spPr>
          <a:xfrm>
            <a:off x="6096000" y="1872218"/>
            <a:ext cx="5257800" cy="49857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2400" b="1" dirty="0"/>
              <a:t>Strategic Implementation:</a:t>
            </a:r>
            <a:endParaRPr lang="si-LK" sz="2400" b="1" dirty="0"/>
          </a:p>
          <a:p>
            <a:pPr>
              <a:lnSpc>
                <a:spcPct val="150000"/>
              </a:lnSpc>
              <a:buFont typeface="Wingdings" panose="05000000000000000000" pitchFamily="2" charset="2"/>
              <a:buChar char="ü"/>
            </a:pPr>
            <a:r>
              <a:rPr lang="en-US" sz="2400" dirty="0"/>
              <a:t>Modeling: Parametric CAD via Solid Edge 2025 (Exact Involute).</a:t>
            </a:r>
            <a:endParaRPr lang="si-LK" sz="2400" dirty="0"/>
          </a:p>
          <a:p>
            <a:pPr>
              <a:lnSpc>
                <a:spcPct val="150000"/>
              </a:lnSpc>
              <a:buFont typeface="Wingdings" panose="05000000000000000000" pitchFamily="2" charset="2"/>
              <a:buChar char="ü"/>
            </a:pPr>
            <a:r>
              <a:rPr lang="en-US" sz="2400" dirty="0"/>
              <a:t>Simulation: Full 3D Analysis (Beyond 2D Plane Strain).</a:t>
            </a:r>
            <a:endParaRPr lang="si-LK" sz="2400" dirty="0"/>
          </a:p>
          <a:p>
            <a:pPr>
              <a:lnSpc>
                <a:spcPct val="150000"/>
              </a:lnSpc>
              <a:buFont typeface="Wingdings" panose="05000000000000000000" pitchFamily="2" charset="2"/>
              <a:buChar char="ü"/>
            </a:pPr>
            <a:r>
              <a:rPr lang="en-US" sz="2400" dirty="0"/>
              <a:t>Optimization: Mesh Partitioning for max efficiency.</a:t>
            </a:r>
          </a:p>
        </p:txBody>
      </p:sp>
      <p:sp>
        <p:nvSpPr>
          <p:cNvPr id="8" name="Rectangle 7" descr="Bullseye">
            <a:extLst>
              <a:ext uri="{FF2B5EF4-FFF2-40B4-BE49-F238E27FC236}">
                <a16:creationId xmlns:a16="http://schemas.microsoft.com/office/drawing/2014/main" id="{354157E9-33F8-533B-9870-E686F41D3C30}"/>
              </a:ext>
            </a:extLst>
          </p:cNvPr>
          <p:cNvSpPr/>
          <p:nvPr/>
        </p:nvSpPr>
        <p:spPr>
          <a:xfrm>
            <a:off x="3503830" y="1954411"/>
            <a:ext cx="640080" cy="64008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9" name="Content Placeholder 2">
            <a:extLst>
              <a:ext uri="{FF2B5EF4-FFF2-40B4-BE49-F238E27FC236}">
                <a16:creationId xmlns:a16="http://schemas.microsoft.com/office/drawing/2014/main" id="{226F79D0-828F-F58C-CF7D-F3F80A4520BF}"/>
              </a:ext>
            </a:extLst>
          </p:cNvPr>
          <p:cNvSpPr txBox="1">
            <a:spLocks/>
          </p:cNvSpPr>
          <p:nvPr/>
        </p:nvSpPr>
        <p:spPr>
          <a:xfrm>
            <a:off x="838200" y="1989838"/>
            <a:ext cx="4812587" cy="31369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50000"/>
              </a:lnSpc>
              <a:buNone/>
            </a:pPr>
            <a:r>
              <a:rPr lang="en-US" sz="2400" b="1" dirty="0"/>
              <a:t>Primary Goal:</a:t>
            </a:r>
            <a:r>
              <a:rPr lang="en-US" sz="2400" dirty="0"/>
              <a:t> </a:t>
            </a:r>
          </a:p>
          <a:p>
            <a:pPr marL="0" indent="0">
              <a:lnSpc>
                <a:spcPct val="150000"/>
              </a:lnSpc>
              <a:buNone/>
            </a:pPr>
            <a:r>
              <a:rPr lang="en-US" sz="2400" dirty="0"/>
              <a:t>⚙️ 3D Contact Stress Analysis</a:t>
            </a:r>
            <a:endParaRPr lang="si-LK" sz="2400" dirty="0"/>
          </a:p>
          <a:p>
            <a:pPr marL="0" indent="0">
              <a:lnSpc>
                <a:spcPct val="150000"/>
              </a:lnSpc>
              <a:buNone/>
            </a:pPr>
            <a:r>
              <a:rPr lang="en-US" sz="2400" dirty="0"/>
              <a:t>🧪 Plastic Deformation (PEEQ) Prediction</a:t>
            </a:r>
            <a:endParaRPr lang="si-LK" sz="2400" dirty="0"/>
          </a:p>
          <a:p>
            <a:pPr marL="0" indent="0">
              <a:lnSpc>
                <a:spcPct val="150000"/>
              </a:lnSpc>
              <a:buNone/>
            </a:pPr>
            <a:r>
              <a:rPr lang="en-US" sz="2400" dirty="0"/>
              <a:t>📉 Mesh Convergence Study</a:t>
            </a:r>
          </a:p>
        </p:txBody>
      </p:sp>
    </p:spTree>
    <p:extLst>
      <p:ext uri="{BB962C8B-B14F-4D97-AF65-F5344CB8AC3E}">
        <p14:creationId xmlns:p14="http://schemas.microsoft.com/office/powerpoint/2010/main" val="3760317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ABC347B-B5F6-0A8F-3A15-A6712D801D72}"/>
              </a:ext>
            </a:extLst>
          </p:cNvPr>
          <p:cNvSpPr/>
          <p:nvPr/>
        </p:nvSpPr>
        <p:spPr>
          <a:xfrm>
            <a:off x="699927" y="628848"/>
            <a:ext cx="10792146" cy="798116"/>
          </a:xfrm>
          <a:prstGeom prst="roundRect">
            <a:avLst>
              <a:gd name="adj" fmla="val 44919"/>
            </a:avLst>
          </a:prstGeom>
          <a:solidFill>
            <a:srgbClr val="4169E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Title 1">
            <a:extLst>
              <a:ext uri="{FF2B5EF4-FFF2-40B4-BE49-F238E27FC236}">
                <a16:creationId xmlns:a16="http://schemas.microsoft.com/office/drawing/2014/main" id="{7DCAA6D7-4EA2-B323-FCC7-98E07005EC5A}"/>
              </a:ext>
            </a:extLst>
          </p:cNvPr>
          <p:cNvSpPr>
            <a:spLocks noGrp="1"/>
          </p:cNvSpPr>
          <p:nvPr>
            <p:ph type="title"/>
          </p:nvPr>
        </p:nvSpPr>
        <p:spPr/>
        <p:txBody>
          <a:bodyPr/>
          <a:lstStyle/>
          <a:p>
            <a:r>
              <a:rPr lang="en-US" b="1" dirty="0">
                <a:solidFill>
                  <a:schemeClr val="bg1"/>
                </a:solidFill>
              </a:rPr>
              <a:t>Geometric Design Parameters</a:t>
            </a:r>
          </a:p>
        </p:txBody>
      </p:sp>
      <mc:AlternateContent xmlns:mc="http://schemas.openxmlformats.org/markup-compatibility/2006" xmlns:a14="http://schemas.microsoft.com/office/drawing/2010/main">
        <mc:Choice Requires="a14">
          <p:graphicFrame>
            <p:nvGraphicFramePr>
              <p:cNvPr id="7" name="Content Placeholder 6">
                <a:extLst>
                  <a:ext uri="{FF2B5EF4-FFF2-40B4-BE49-F238E27FC236}">
                    <a16:creationId xmlns:a16="http://schemas.microsoft.com/office/drawing/2014/main" id="{AE6E56F8-4B00-59EA-B147-72012EEA3C27}"/>
                  </a:ext>
                </a:extLst>
              </p:cNvPr>
              <p:cNvGraphicFramePr>
                <a:graphicFrameLocks noGrp="1"/>
              </p:cNvGraphicFramePr>
              <p:nvPr>
                <p:ph idx="1"/>
                <p:extLst>
                  <p:ext uri="{D42A27DB-BD31-4B8C-83A1-F6EECF244321}">
                    <p14:modId xmlns:p14="http://schemas.microsoft.com/office/powerpoint/2010/main" val="1670598042"/>
                  </p:ext>
                </p:extLst>
              </p:nvPr>
            </p:nvGraphicFramePr>
            <p:xfrm>
              <a:off x="838200" y="2225199"/>
              <a:ext cx="10515600" cy="3230880"/>
            </p:xfrm>
            <a:graphic>
              <a:graphicData uri="http://schemas.openxmlformats.org/drawingml/2006/table">
                <a:tbl>
                  <a:tblPr>
                    <a:tableStyleId>{616DA210-FB5B-4158-B5E0-FEB733F419BA}</a:tableStyleId>
                  </a:tblPr>
                  <a:tblGrid>
                    <a:gridCol w="2785533">
                      <a:extLst>
                        <a:ext uri="{9D8B030D-6E8A-4147-A177-3AD203B41FA5}">
                          <a16:colId xmlns:a16="http://schemas.microsoft.com/office/drawing/2014/main" val="3655177380"/>
                        </a:ext>
                      </a:extLst>
                    </a:gridCol>
                    <a:gridCol w="1532467">
                      <a:extLst>
                        <a:ext uri="{9D8B030D-6E8A-4147-A177-3AD203B41FA5}">
                          <a16:colId xmlns:a16="http://schemas.microsoft.com/office/drawing/2014/main" val="4265656311"/>
                        </a:ext>
                      </a:extLst>
                    </a:gridCol>
                    <a:gridCol w="6197600">
                      <a:extLst>
                        <a:ext uri="{9D8B030D-6E8A-4147-A177-3AD203B41FA5}">
                          <a16:colId xmlns:a16="http://schemas.microsoft.com/office/drawing/2014/main" val="3174557023"/>
                        </a:ext>
                      </a:extLst>
                    </a:gridCol>
                  </a:tblGrid>
                  <a:tr h="0">
                    <a:tc>
                      <a:txBody>
                        <a:bodyPr/>
                        <a:lstStyle/>
                        <a:p>
                          <a:pPr rtl="0">
                            <a:buNone/>
                          </a:pPr>
                          <a:r>
                            <a:rPr lang="en-US" sz="2800" b="1" dirty="0">
                              <a:solidFill>
                                <a:srgbClr val="1F1F1F"/>
                              </a:solidFill>
                              <a:effectLst/>
                            </a:rPr>
                            <a:t>Parameter</a:t>
                          </a:r>
                          <a:endParaRPr lang="en-US" sz="2800" dirty="0">
                            <a:solidFill>
                              <a:srgbClr val="1F1F1F"/>
                            </a:solidFill>
                            <a:effectLst/>
                            <a:latin typeface="Google Sans Text"/>
                          </a:endParaRPr>
                        </a:p>
                      </a:txBody>
                      <a:tcPr marL="76200" marR="76200" marT="50800" marB="50800" anchor="ctr"/>
                    </a:tc>
                    <a:tc>
                      <a:txBody>
                        <a:bodyPr/>
                        <a:lstStyle/>
                        <a:p>
                          <a:pPr rtl="0">
                            <a:buNone/>
                          </a:pPr>
                          <a:r>
                            <a:rPr lang="en-US" sz="2800" b="1" dirty="0">
                              <a:solidFill>
                                <a:srgbClr val="1F1F1F"/>
                              </a:solidFill>
                              <a:effectLst/>
                            </a:rPr>
                            <a:t>Value</a:t>
                          </a:r>
                          <a:endParaRPr lang="en-US" sz="2800" dirty="0">
                            <a:solidFill>
                              <a:srgbClr val="1F1F1F"/>
                            </a:solidFill>
                            <a:effectLst/>
                            <a:latin typeface="Google Sans Text"/>
                          </a:endParaRPr>
                        </a:p>
                      </a:txBody>
                      <a:tcPr marL="76200" marR="76200" marT="50800" marB="50800" anchor="ctr"/>
                    </a:tc>
                    <a:tc>
                      <a:txBody>
                        <a:bodyPr/>
                        <a:lstStyle/>
                        <a:p>
                          <a:pPr rtl="0">
                            <a:buNone/>
                          </a:pPr>
                          <a:r>
                            <a:rPr lang="en-US" sz="2800" b="1" dirty="0">
                              <a:solidFill>
                                <a:srgbClr val="1F1F1F"/>
                              </a:solidFill>
                              <a:effectLst/>
                            </a:rPr>
                            <a:t>Derivation Logic</a:t>
                          </a:r>
                          <a:endParaRPr lang="en-US" sz="2800" dirty="0">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1608585692"/>
                      </a:ext>
                    </a:extLst>
                  </a:tr>
                  <a:tr h="0">
                    <a:tc>
                      <a:txBody>
                        <a:bodyPr/>
                        <a:lstStyle/>
                        <a:p>
                          <a:pPr rtl="0">
                            <a:buNone/>
                          </a:pPr>
                          <a:r>
                            <a:rPr lang="en-US" sz="2400" b="1" dirty="0">
                              <a:solidFill>
                                <a:srgbClr val="1F1F1F"/>
                              </a:solidFill>
                              <a:effectLst/>
                            </a:rPr>
                            <a:t>Gear PCD (</a:t>
                          </a:r>
                          <a14:m>
                            <m:oMath xmlns:m="http://schemas.openxmlformats.org/officeDocument/2006/math">
                              <m:sSub>
                                <m:sSubPr>
                                  <m:ctrlPr>
                                    <a:rPr lang="en-US" sz="2400" b="1" dirty="0" smtClean="0">
                                      <a:solidFill>
                                        <a:srgbClr val="1F1F1F"/>
                                      </a:solidFill>
                                      <a:effectLst/>
                                      <a:latin typeface="Cambria Math" panose="02040503050406030204" pitchFamily="18" charset="0"/>
                                    </a:rPr>
                                  </m:ctrlPr>
                                </m:sSubPr>
                                <m:e>
                                  <m:r>
                                    <a:rPr lang="en-US" sz="2400" b="1" dirty="0" smtClean="0">
                                      <a:solidFill>
                                        <a:srgbClr val="1F1F1F"/>
                                      </a:solidFill>
                                      <a:effectLst/>
                                      <a:latin typeface="Cambria Math" panose="02040503050406030204" pitchFamily="18" charset="0"/>
                                    </a:rPr>
                                    <m:t>𝑫</m:t>
                                  </m:r>
                                </m:e>
                                <m:sub>
                                  <m:r>
                                    <a:rPr lang="en-US" sz="2400" b="1" dirty="0" smtClean="0">
                                      <a:solidFill>
                                        <a:srgbClr val="1F1F1F"/>
                                      </a:solidFill>
                                      <a:effectLst/>
                                      <a:latin typeface="Cambria Math" panose="02040503050406030204" pitchFamily="18" charset="0"/>
                                    </a:rPr>
                                    <m:t>𝑮</m:t>
                                  </m:r>
                                </m:sub>
                              </m:sSub>
                            </m:oMath>
                          </a14:m>
                          <a:r>
                            <a:rPr lang="en-US" sz="2400" b="1" dirty="0">
                              <a:solidFill>
                                <a:srgbClr val="1F1F1F"/>
                              </a:solidFill>
                              <a:effectLst/>
                            </a:rPr>
                            <a:t>)</a:t>
                          </a:r>
                          <a:endParaRPr lang="en-US" sz="2400" dirty="0">
                            <a:solidFill>
                              <a:srgbClr val="1F1F1F"/>
                            </a:solidFill>
                            <a:effectLst/>
                            <a:latin typeface="Google Sans Text"/>
                          </a:endParaRPr>
                        </a:p>
                      </a:txBody>
                      <a:tcPr marL="76200" marR="76200" marT="50800" marB="50800" anchor="ctr"/>
                    </a:tc>
                    <a:tc>
                      <a:txBody>
                        <a:bodyPr/>
                        <a:lstStyle/>
                        <a:p>
                          <a:pPr rtl="0">
                            <a:buNone/>
                          </a:pPr>
                          <a:r>
                            <a:rPr lang="en-US" sz="2400" b="1">
                              <a:solidFill>
                                <a:srgbClr val="1F1F1F"/>
                              </a:solidFill>
                              <a:effectLst/>
                            </a:rPr>
                            <a:t>494 mm</a:t>
                          </a:r>
                          <a:endParaRPr lang="en-US" sz="2400">
                            <a:solidFill>
                              <a:srgbClr val="1F1F1F"/>
                            </a:solidFill>
                            <a:effectLst/>
                            <a:latin typeface="Google Sans Text"/>
                          </a:endParaRPr>
                        </a:p>
                      </a:txBody>
                      <a:tcPr marL="76200" marR="76200" marT="50800" marB="50800" anchor="ctr"/>
                    </a:tc>
                    <a:tc>
                      <a:txBody>
                        <a:bodyPr/>
                        <a:lstStyle/>
                        <a:p>
                          <a:pPr rtl="0">
                            <a:buNone/>
                          </a:pPr>
                          <a:r>
                            <a:rPr lang="en-US" sz="2400" dirty="0">
                              <a:solidFill>
                                <a:srgbClr val="1F1F1F"/>
                              </a:solidFill>
                              <a:effectLst/>
                            </a:rPr>
                            <a:t>Based on Index</a:t>
                          </a:r>
                          <a:endParaRPr lang="en-US" sz="2400" dirty="0">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2540374533"/>
                      </a:ext>
                    </a:extLst>
                  </a:tr>
                  <a:tr h="0">
                    <a:tc>
                      <a:txBody>
                        <a:bodyPr/>
                        <a:lstStyle/>
                        <a:p>
                          <a:pPr rtl="0">
                            <a:buNone/>
                          </a:pPr>
                          <a:r>
                            <a:rPr lang="en-US" sz="2400" b="1" dirty="0">
                              <a:solidFill>
                                <a:srgbClr val="1F1F1F"/>
                              </a:solidFill>
                              <a:effectLst/>
                            </a:rPr>
                            <a:t>Pinion PCD (</a:t>
                          </a:r>
                          <a14:m>
                            <m:oMath xmlns:m="http://schemas.openxmlformats.org/officeDocument/2006/math">
                              <m:sSub>
                                <m:sSubPr>
                                  <m:ctrlPr>
                                    <a:rPr lang="en-US" sz="2400" b="1" smtClean="0">
                                      <a:solidFill>
                                        <a:srgbClr val="1F1F1F"/>
                                      </a:solidFill>
                                      <a:effectLst/>
                                      <a:latin typeface="Cambria Math" panose="02040503050406030204" pitchFamily="18" charset="0"/>
                                    </a:rPr>
                                  </m:ctrlPr>
                                </m:sSubPr>
                                <m:e>
                                  <m:r>
                                    <a:rPr lang="en-US" sz="2400" b="1" smtClean="0">
                                      <a:solidFill>
                                        <a:srgbClr val="1F1F1F"/>
                                      </a:solidFill>
                                      <a:effectLst/>
                                      <a:latin typeface="Cambria Math" panose="02040503050406030204" pitchFamily="18" charset="0"/>
                                    </a:rPr>
                                    <m:t>𝑫</m:t>
                                  </m:r>
                                </m:e>
                                <m:sub>
                                  <m:r>
                                    <a:rPr lang="en-US" sz="2400" b="1" smtClean="0">
                                      <a:solidFill>
                                        <a:srgbClr val="1F1F1F"/>
                                      </a:solidFill>
                                      <a:effectLst/>
                                      <a:latin typeface="Cambria Math" panose="02040503050406030204" pitchFamily="18" charset="0"/>
                                    </a:rPr>
                                    <m:t>𝑷</m:t>
                                  </m:r>
                                </m:sub>
                              </m:sSub>
                            </m:oMath>
                          </a14:m>
                          <a:r>
                            <a:rPr lang="en-US" sz="2400" b="1" dirty="0">
                              <a:solidFill>
                                <a:srgbClr val="1F1F1F"/>
                              </a:solidFill>
                              <a:effectLst/>
                            </a:rPr>
                            <a:t>)</a:t>
                          </a:r>
                          <a:endParaRPr lang="en-US" sz="2400" dirty="0">
                            <a:solidFill>
                              <a:srgbClr val="1F1F1F"/>
                            </a:solidFill>
                            <a:effectLst/>
                            <a:latin typeface="Google Sans Text"/>
                          </a:endParaRPr>
                        </a:p>
                      </a:txBody>
                      <a:tcPr marL="76200" marR="76200" marT="50800" marB="50800" anchor="ctr"/>
                    </a:tc>
                    <a:tc>
                      <a:txBody>
                        <a:bodyPr/>
                        <a:lstStyle/>
                        <a:p>
                          <a:pPr rtl="0">
                            <a:buNone/>
                          </a:pPr>
                          <a:r>
                            <a:rPr lang="en-US" sz="2400" b="1" dirty="0">
                              <a:solidFill>
                                <a:srgbClr val="1F1F1F"/>
                              </a:solidFill>
                              <a:effectLst/>
                            </a:rPr>
                            <a:t>98.8 mm</a:t>
                          </a:r>
                          <a:endParaRPr lang="en-US" sz="2400" dirty="0">
                            <a:solidFill>
                              <a:srgbClr val="1F1F1F"/>
                            </a:solidFill>
                            <a:effectLst/>
                            <a:latin typeface="Google Sans Text"/>
                          </a:endParaRPr>
                        </a:p>
                      </a:txBody>
                      <a:tcPr marL="76200" marR="76200" marT="50800" marB="50800" anchor="ctr"/>
                    </a:tc>
                    <a:tc>
                      <a:txBody>
                        <a:bodyPr/>
                        <a:lstStyle/>
                        <a:p>
                          <a:pPr rtl="0">
                            <a:buNone/>
                          </a:pPr>
                          <a:r>
                            <a:rPr lang="en-US" sz="2400" dirty="0">
                              <a:solidFill>
                                <a:srgbClr val="1F1F1F"/>
                              </a:solidFill>
                              <a:effectLst/>
                            </a:rPr>
                            <a:t>= </a:t>
                          </a:r>
                          <a14:m>
                            <m:oMath xmlns:m="http://schemas.openxmlformats.org/officeDocument/2006/math">
                              <m:sSub>
                                <m:sSubPr>
                                  <m:ctrlPr>
                                    <a:rPr lang="en-US" sz="2400" b="0" smtClean="0">
                                      <a:solidFill>
                                        <a:srgbClr val="1F1F1F"/>
                                      </a:solidFill>
                                      <a:effectLst/>
                                      <a:latin typeface="Cambria Math" panose="02040503050406030204" pitchFamily="18" charset="0"/>
                                    </a:rPr>
                                  </m:ctrlPr>
                                </m:sSubPr>
                                <m:e>
                                  <m:r>
                                    <a:rPr lang="en-US" sz="2400" b="0" smtClean="0">
                                      <a:solidFill>
                                        <a:srgbClr val="1F1F1F"/>
                                      </a:solidFill>
                                      <a:effectLst/>
                                      <a:latin typeface="Cambria Math" panose="02040503050406030204" pitchFamily="18" charset="0"/>
                                    </a:rPr>
                                    <m:t>𝐷</m:t>
                                  </m:r>
                                </m:e>
                                <m:sub>
                                  <m:r>
                                    <a:rPr lang="en-US" sz="2400" b="0" smtClean="0">
                                      <a:solidFill>
                                        <a:srgbClr val="1F1F1F"/>
                                      </a:solidFill>
                                      <a:effectLst/>
                                      <a:latin typeface="Cambria Math" panose="02040503050406030204" pitchFamily="18" charset="0"/>
                                    </a:rPr>
                                    <m:t>𝐺</m:t>
                                  </m:r>
                                </m:sub>
                              </m:sSub>
                            </m:oMath>
                          </a14:m>
                          <a:r>
                            <a:rPr lang="en-US" sz="2400" dirty="0">
                              <a:solidFill>
                                <a:srgbClr val="1F1F1F"/>
                              </a:solidFill>
                              <a:effectLst/>
                            </a:rPr>
                            <a:t> / 5</a:t>
                          </a:r>
                          <a:endParaRPr lang="en-US" sz="2400" dirty="0">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3187780992"/>
                      </a:ext>
                    </a:extLst>
                  </a:tr>
                  <a:tr h="0">
                    <a:tc>
                      <a:txBody>
                        <a:bodyPr/>
                        <a:lstStyle/>
                        <a:p>
                          <a:pPr rtl="0">
                            <a:buNone/>
                          </a:pPr>
                          <a:r>
                            <a:rPr lang="en-US" sz="2400" b="1" dirty="0">
                              <a:solidFill>
                                <a:srgbClr val="1F1F1F"/>
                              </a:solidFill>
                              <a:effectLst/>
                            </a:rPr>
                            <a:t>Pinion Teeth (</a:t>
                          </a:r>
                          <a14:m>
                            <m:oMath xmlns:m="http://schemas.openxmlformats.org/officeDocument/2006/math">
                              <m:sSub>
                                <m:sSubPr>
                                  <m:ctrlPr>
                                    <a:rPr lang="en-US" sz="2400" b="1" smtClean="0">
                                      <a:solidFill>
                                        <a:srgbClr val="1F1F1F"/>
                                      </a:solidFill>
                                      <a:effectLst/>
                                      <a:latin typeface="Cambria Math" panose="02040503050406030204" pitchFamily="18" charset="0"/>
                                    </a:rPr>
                                  </m:ctrlPr>
                                </m:sSubPr>
                                <m:e>
                                  <m:r>
                                    <a:rPr lang="en-US" sz="2400" b="1" smtClean="0">
                                      <a:solidFill>
                                        <a:srgbClr val="1F1F1F"/>
                                      </a:solidFill>
                                      <a:effectLst/>
                                      <a:latin typeface="Cambria Math" panose="02040503050406030204" pitchFamily="18" charset="0"/>
                                    </a:rPr>
                                    <m:t>𝒁</m:t>
                                  </m:r>
                                </m:e>
                                <m:sub>
                                  <m:r>
                                    <a:rPr lang="en-US" sz="2400" b="1" smtClean="0">
                                      <a:solidFill>
                                        <a:srgbClr val="1F1F1F"/>
                                      </a:solidFill>
                                      <a:effectLst/>
                                      <a:latin typeface="Cambria Math" panose="02040503050406030204" pitchFamily="18" charset="0"/>
                                    </a:rPr>
                                    <m:t>𝑷</m:t>
                                  </m:r>
                                </m:sub>
                              </m:sSub>
                            </m:oMath>
                          </a14:m>
                          <a:r>
                            <a:rPr lang="en-US" sz="2400" b="1" dirty="0">
                              <a:solidFill>
                                <a:srgbClr val="1F1F1F"/>
                              </a:solidFill>
                              <a:effectLst/>
                            </a:rPr>
                            <a:t>)</a:t>
                          </a:r>
                          <a:endParaRPr lang="en-US" sz="2400" dirty="0">
                            <a:solidFill>
                              <a:srgbClr val="1F1F1F"/>
                            </a:solidFill>
                            <a:effectLst/>
                            <a:latin typeface="Google Sans Text"/>
                          </a:endParaRPr>
                        </a:p>
                      </a:txBody>
                      <a:tcPr marL="76200" marR="76200" marT="50800" marB="50800" anchor="ctr">
                        <a:solidFill>
                          <a:srgbClr val="FFFFCC"/>
                        </a:solidFill>
                      </a:tcPr>
                    </a:tc>
                    <a:tc>
                      <a:txBody>
                        <a:bodyPr/>
                        <a:lstStyle/>
                        <a:p>
                          <a:pPr rtl="0">
                            <a:buNone/>
                          </a:pPr>
                          <a:r>
                            <a:rPr lang="en-US" sz="2400" b="1" dirty="0">
                              <a:solidFill>
                                <a:srgbClr val="1F1F1F"/>
                              </a:solidFill>
                              <a:effectLst/>
                            </a:rPr>
                            <a:t>20</a:t>
                          </a:r>
                          <a:endParaRPr lang="en-US" sz="2400" dirty="0">
                            <a:solidFill>
                              <a:srgbClr val="1F1F1F"/>
                            </a:solidFill>
                            <a:effectLst/>
                            <a:latin typeface="Google Sans Text"/>
                          </a:endParaRPr>
                        </a:p>
                      </a:txBody>
                      <a:tcPr marL="76200" marR="76200" marT="50800" marB="50800" anchor="ctr">
                        <a:solidFill>
                          <a:srgbClr val="FFFFCC"/>
                        </a:solidFill>
                      </a:tcPr>
                    </a:tc>
                    <a:tc>
                      <a:txBody>
                        <a:bodyPr/>
                        <a:lstStyle/>
                        <a:p>
                          <a:pPr rtl="0">
                            <a:buNone/>
                          </a:pPr>
                          <a:r>
                            <a:rPr lang="en-US" sz="2400" dirty="0">
                              <a:solidFill>
                                <a:srgbClr val="1F1F1F"/>
                              </a:solidFill>
                              <a:effectLst/>
                            </a:rPr>
                            <a:t>Selected </a:t>
                          </a:r>
                          <a14:m>
                            <m:oMath xmlns:m="http://schemas.openxmlformats.org/officeDocument/2006/math">
                              <m:sSub>
                                <m:sSubPr>
                                  <m:ctrlPr>
                                    <a:rPr lang="en-US" sz="2400" b="0" smtClean="0">
                                      <a:solidFill>
                                        <a:srgbClr val="1F1F1F"/>
                                      </a:solidFill>
                                      <a:effectLst/>
                                      <a:latin typeface="Cambria Math" panose="02040503050406030204" pitchFamily="18" charset="0"/>
                                    </a:rPr>
                                  </m:ctrlPr>
                                </m:sSubPr>
                                <m:e>
                                  <m:r>
                                    <a:rPr lang="en-US" sz="2400" b="0" smtClean="0">
                                      <a:solidFill>
                                        <a:srgbClr val="1F1F1F"/>
                                      </a:solidFill>
                                      <a:effectLst/>
                                      <a:latin typeface="Cambria Math" panose="02040503050406030204" pitchFamily="18" charset="0"/>
                                    </a:rPr>
                                    <m:t>𝑍</m:t>
                                  </m:r>
                                </m:e>
                                <m:sub>
                                  <m:r>
                                    <a:rPr lang="en-US" sz="2400" b="0" smtClean="0">
                                      <a:solidFill>
                                        <a:srgbClr val="1F1F1F"/>
                                      </a:solidFill>
                                      <a:effectLst/>
                                      <a:latin typeface="Cambria Math" panose="02040503050406030204" pitchFamily="18" charset="0"/>
                                    </a:rPr>
                                    <m:t>𝑃</m:t>
                                  </m:r>
                                </m:sub>
                              </m:sSub>
                            </m:oMath>
                          </a14:m>
                          <a:r>
                            <a:rPr lang="en-US" sz="2400" dirty="0">
                              <a:solidFill>
                                <a:srgbClr val="1F1F1F"/>
                              </a:solidFill>
                              <a:effectLst/>
                            </a:rPr>
                            <a:t> should</a:t>
                          </a:r>
                          <a:r>
                            <a:rPr lang="en-US" sz="2400" baseline="0" dirty="0">
                              <a:solidFill>
                                <a:srgbClr val="1F1F1F"/>
                              </a:solidFill>
                              <a:effectLst/>
                            </a:rPr>
                            <a:t> be</a:t>
                          </a:r>
                          <a:r>
                            <a:rPr lang="en-US" sz="2400" dirty="0">
                              <a:solidFill>
                                <a:srgbClr val="1F1F1F"/>
                              </a:solidFill>
                              <a:effectLst/>
                            </a:rPr>
                            <a:t> avoid</a:t>
                          </a:r>
                          <a:r>
                            <a:rPr lang="en-US" sz="2400" baseline="0" dirty="0">
                              <a:solidFill>
                                <a:srgbClr val="1F1F1F"/>
                              </a:solidFill>
                              <a:effectLst/>
                            </a:rPr>
                            <a:t> u</a:t>
                          </a:r>
                          <a:r>
                            <a:rPr lang="en-US" sz="2400" dirty="0">
                              <a:solidFill>
                                <a:srgbClr val="1F1F1F"/>
                              </a:solidFill>
                              <a:effectLst/>
                            </a:rPr>
                            <a:t>ndercutting (</a:t>
                          </a:r>
                          <a14:m>
                            <m:oMath xmlns:m="http://schemas.openxmlformats.org/officeDocument/2006/math">
                              <m:sSub>
                                <m:sSubPr>
                                  <m:ctrlPr>
                                    <a:rPr lang="en-US" sz="2400" b="0" smtClean="0">
                                      <a:solidFill>
                                        <a:srgbClr val="1F1F1F"/>
                                      </a:solidFill>
                                      <a:effectLst/>
                                      <a:latin typeface="Cambria Math" panose="02040503050406030204" pitchFamily="18" charset="0"/>
                                    </a:rPr>
                                  </m:ctrlPr>
                                </m:sSubPr>
                                <m:e>
                                  <m:r>
                                    <a:rPr lang="en-US" sz="2400" b="0" smtClean="0">
                                      <a:solidFill>
                                        <a:srgbClr val="1F1F1F"/>
                                      </a:solidFill>
                                      <a:effectLst/>
                                      <a:latin typeface="Cambria Math" panose="02040503050406030204" pitchFamily="18" charset="0"/>
                                    </a:rPr>
                                    <m:t>𝑍</m:t>
                                  </m:r>
                                </m:e>
                                <m:sub>
                                  <m:r>
                                    <a:rPr lang="en-US" sz="2400" b="0" smtClean="0">
                                      <a:solidFill>
                                        <a:srgbClr val="1F1F1F"/>
                                      </a:solidFill>
                                      <a:effectLst/>
                                      <a:latin typeface="Cambria Math" panose="02040503050406030204" pitchFamily="18" charset="0"/>
                                    </a:rPr>
                                    <m:t>𝑃</m:t>
                                  </m:r>
                                </m:sub>
                              </m:sSub>
                            </m:oMath>
                          </a14:m>
                          <a:r>
                            <a:rPr lang="en-US" sz="2400" dirty="0">
                              <a:solidFill>
                                <a:srgbClr val="1F1F1F"/>
                              </a:solidFill>
                              <a:effectLst/>
                            </a:rPr>
                            <a:t> &gt; 18)</a:t>
                          </a:r>
                          <a:endParaRPr lang="en-US" sz="2400" dirty="0">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233746240"/>
                      </a:ext>
                    </a:extLst>
                  </a:tr>
                  <a:tr h="0">
                    <a:tc>
                      <a:txBody>
                        <a:bodyPr/>
                        <a:lstStyle/>
                        <a:p>
                          <a:pPr rtl="0">
                            <a:buNone/>
                          </a:pPr>
                          <a:r>
                            <a:rPr lang="en-US" sz="2400" b="1" dirty="0">
                              <a:solidFill>
                                <a:srgbClr val="1F1F1F"/>
                              </a:solidFill>
                              <a:effectLst/>
                            </a:rPr>
                            <a:t>Module (</a:t>
                          </a:r>
                          <a14:m>
                            <m:oMath xmlns:m="http://schemas.openxmlformats.org/officeDocument/2006/math">
                              <m:r>
                                <a:rPr lang="en-US" sz="2400" b="1" smtClean="0">
                                  <a:solidFill>
                                    <a:srgbClr val="1F1F1F"/>
                                  </a:solidFill>
                                  <a:effectLst/>
                                  <a:latin typeface="Cambria Math" panose="02040503050406030204" pitchFamily="18" charset="0"/>
                                </a:rPr>
                                <m:t>𝒎</m:t>
                              </m:r>
                            </m:oMath>
                          </a14:m>
                          <a:r>
                            <a:rPr lang="en-US" sz="2400" b="1" dirty="0">
                              <a:solidFill>
                                <a:srgbClr val="1F1F1F"/>
                              </a:solidFill>
                              <a:effectLst/>
                            </a:rPr>
                            <a:t>)</a:t>
                          </a:r>
                          <a:endParaRPr lang="en-US" sz="2400" dirty="0">
                            <a:solidFill>
                              <a:srgbClr val="1F1F1F"/>
                            </a:solidFill>
                            <a:effectLst/>
                            <a:latin typeface="Google Sans Text"/>
                          </a:endParaRPr>
                        </a:p>
                      </a:txBody>
                      <a:tcPr marL="76200" marR="76200" marT="50800" marB="50800" anchor="ctr"/>
                    </a:tc>
                    <a:tc>
                      <a:txBody>
                        <a:bodyPr/>
                        <a:lstStyle/>
                        <a:p>
                          <a:pPr rtl="0">
                            <a:buNone/>
                          </a:pPr>
                          <a:r>
                            <a:rPr lang="en-US" sz="2400" b="1" dirty="0">
                              <a:solidFill>
                                <a:srgbClr val="1F1F1F"/>
                              </a:solidFill>
                              <a:effectLst/>
                            </a:rPr>
                            <a:t>4.94 mm</a:t>
                          </a:r>
                          <a:endParaRPr lang="en-US" sz="2400" dirty="0">
                            <a:solidFill>
                              <a:srgbClr val="1F1F1F"/>
                            </a:solidFill>
                            <a:effectLst/>
                            <a:latin typeface="Google Sans Text"/>
                          </a:endParaRPr>
                        </a:p>
                      </a:txBody>
                      <a:tcPr marL="76200" marR="76200" marT="50800" marB="50800" anchor="ctr"/>
                    </a:tc>
                    <a:tc>
                      <a:txBody>
                        <a:bodyPr/>
                        <a:lstStyle/>
                        <a:p>
                          <a:pPr rtl="0">
                            <a:buNone/>
                          </a:pPr>
                          <a:r>
                            <a:rPr lang="en-US" sz="2400" dirty="0">
                              <a:solidFill>
                                <a:srgbClr val="1F1F1F"/>
                              </a:solidFill>
                              <a:effectLst/>
                            </a:rPr>
                            <a:t>= 98.8 / 20</a:t>
                          </a:r>
                          <a:endParaRPr lang="en-US" sz="2400" dirty="0">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2215359145"/>
                      </a:ext>
                    </a:extLst>
                  </a:tr>
                  <a:tr h="0">
                    <a:tc>
                      <a:txBody>
                        <a:bodyPr/>
                        <a:lstStyle/>
                        <a:p>
                          <a:pPr rtl="0">
                            <a:buNone/>
                          </a:pPr>
                          <a:r>
                            <a:rPr lang="en-US" sz="2400" b="1" dirty="0">
                              <a:solidFill>
                                <a:srgbClr val="1F1F1F"/>
                              </a:solidFill>
                              <a:effectLst/>
                            </a:rPr>
                            <a:t>Gear Teeth (</a:t>
                          </a:r>
                          <a14:m>
                            <m:oMath xmlns:m="http://schemas.openxmlformats.org/officeDocument/2006/math">
                              <m:sSub>
                                <m:sSubPr>
                                  <m:ctrlPr>
                                    <a:rPr lang="en-US" sz="2400" b="1" smtClean="0">
                                      <a:solidFill>
                                        <a:srgbClr val="1F1F1F"/>
                                      </a:solidFill>
                                      <a:effectLst/>
                                      <a:latin typeface="Cambria Math" panose="02040503050406030204" pitchFamily="18" charset="0"/>
                                    </a:rPr>
                                  </m:ctrlPr>
                                </m:sSubPr>
                                <m:e>
                                  <m:r>
                                    <a:rPr lang="en-US" sz="2400" b="1" smtClean="0">
                                      <a:solidFill>
                                        <a:srgbClr val="1F1F1F"/>
                                      </a:solidFill>
                                      <a:effectLst/>
                                      <a:latin typeface="Cambria Math" panose="02040503050406030204" pitchFamily="18" charset="0"/>
                                    </a:rPr>
                                    <m:t>𝒁</m:t>
                                  </m:r>
                                </m:e>
                                <m:sub>
                                  <m:r>
                                    <a:rPr lang="en-US" sz="2400" b="1" smtClean="0">
                                      <a:solidFill>
                                        <a:srgbClr val="1F1F1F"/>
                                      </a:solidFill>
                                      <a:effectLst/>
                                      <a:latin typeface="Cambria Math" panose="02040503050406030204" pitchFamily="18" charset="0"/>
                                    </a:rPr>
                                    <m:t>𝑮</m:t>
                                  </m:r>
                                </m:sub>
                              </m:sSub>
                            </m:oMath>
                          </a14:m>
                          <a:r>
                            <a:rPr lang="en-US" sz="2400" b="1" dirty="0">
                              <a:solidFill>
                                <a:srgbClr val="1F1F1F"/>
                              </a:solidFill>
                              <a:effectLst/>
                            </a:rPr>
                            <a:t>)</a:t>
                          </a:r>
                          <a:endParaRPr lang="en-US" sz="2400" dirty="0">
                            <a:solidFill>
                              <a:srgbClr val="1F1F1F"/>
                            </a:solidFill>
                            <a:effectLst/>
                            <a:latin typeface="Google Sans Text"/>
                          </a:endParaRPr>
                        </a:p>
                      </a:txBody>
                      <a:tcPr marL="76200" marR="76200" marT="50800" marB="50800" anchor="ctr">
                        <a:solidFill>
                          <a:srgbClr val="FFFFCC"/>
                        </a:solidFill>
                      </a:tcPr>
                    </a:tc>
                    <a:tc>
                      <a:txBody>
                        <a:bodyPr/>
                        <a:lstStyle/>
                        <a:p>
                          <a:pPr rtl="0">
                            <a:buNone/>
                          </a:pPr>
                          <a:r>
                            <a:rPr lang="en-US" sz="2400" b="1" dirty="0">
                              <a:solidFill>
                                <a:srgbClr val="1F1F1F"/>
                              </a:solidFill>
                              <a:effectLst/>
                            </a:rPr>
                            <a:t>100</a:t>
                          </a:r>
                          <a:endParaRPr lang="en-US" sz="2400" dirty="0">
                            <a:solidFill>
                              <a:srgbClr val="1F1F1F"/>
                            </a:solidFill>
                            <a:effectLst/>
                            <a:latin typeface="Google Sans Text"/>
                          </a:endParaRPr>
                        </a:p>
                      </a:txBody>
                      <a:tcPr marL="76200" marR="76200" marT="50800" marB="50800" anchor="ctr">
                        <a:solidFill>
                          <a:srgbClr val="FFFFCC"/>
                        </a:solidFill>
                      </a:tcPr>
                    </a:tc>
                    <a:tc>
                      <a:txBody>
                        <a:bodyPr/>
                        <a:lstStyle/>
                        <a:p>
                          <a:pPr rtl="0">
                            <a:buNone/>
                          </a:pPr>
                          <a:r>
                            <a:rPr lang="en-US" sz="2400" dirty="0">
                              <a:solidFill>
                                <a:srgbClr val="1F1F1F"/>
                              </a:solidFill>
                              <a:effectLst/>
                            </a:rPr>
                            <a:t>= 100 X 5</a:t>
                          </a:r>
                          <a:endParaRPr lang="en-US" sz="2400" dirty="0">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2423825043"/>
                      </a:ext>
                    </a:extLst>
                  </a:tr>
                </a:tbl>
              </a:graphicData>
            </a:graphic>
          </p:graphicFrame>
        </mc:Choice>
        <mc:Fallback xmlns="">
          <p:graphicFrame>
            <p:nvGraphicFramePr>
              <p:cNvPr id="7" name="Content Placeholder 6">
                <a:extLst>
                  <a:ext uri="{FF2B5EF4-FFF2-40B4-BE49-F238E27FC236}">
                    <a16:creationId xmlns:a16="http://schemas.microsoft.com/office/drawing/2014/main" id="{AE6E56F8-4B00-59EA-B147-72012EEA3C27}"/>
                  </a:ext>
                </a:extLst>
              </p:cNvPr>
              <p:cNvGraphicFramePr>
                <a:graphicFrameLocks noGrp="1"/>
              </p:cNvGraphicFramePr>
              <p:nvPr>
                <p:ph idx="1"/>
                <p:extLst>
                  <p:ext uri="{D42A27DB-BD31-4B8C-83A1-F6EECF244321}">
                    <p14:modId xmlns:p14="http://schemas.microsoft.com/office/powerpoint/2010/main" val="1670598042"/>
                  </p:ext>
                </p:extLst>
              </p:nvPr>
            </p:nvGraphicFramePr>
            <p:xfrm>
              <a:off x="838200" y="2225199"/>
              <a:ext cx="10515600" cy="3230880"/>
            </p:xfrm>
            <a:graphic>
              <a:graphicData uri="http://schemas.openxmlformats.org/drawingml/2006/table">
                <a:tbl>
                  <a:tblPr>
                    <a:tableStyleId>{616DA210-FB5B-4158-B5E0-FEB733F419BA}</a:tableStyleId>
                  </a:tblPr>
                  <a:tblGrid>
                    <a:gridCol w="2785533">
                      <a:extLst>
                        <a:ext uri="{9D8B030D-6E8A-4147-A177-3AD203B41FA5}">
                          <a16:colId xmlns:a16="http://schemas.microsoft.com/office/drawing/2014/main" val="3655177380"/>
                        </a:ext>
                      </a:extLst>
                    </a:gridCol>
                    <a:gridCol w="1532467">
                      <a:extLst>
                        <a:ext uri="{9D8B030D-6E8A-4147-A177-3AD203B41FA5}">
                          <a16:colId xmlns:a16="http://schemas.microsoft.com/office/drawing/2014/main" val="4265656311"/>
                        </a:ext>
                      </a:extLst>
                    </a:gridCol>
                    <a:gridCol w="6197600">
                      <a:extLst>
                        <a:ext uri="{9D8B030D-6E8A-4147-A177-3AD203B41FA5}">
                          <a16:colId xmlns:a16="http://schemas.microsoft.com/office/drawing/2014/main" val="3174557023"/>
                        </a:ext>
                      </a:extLst>
                    </a:gridCol>
                  </a:tblGrid>
                  <a:tr h="528320">
                    <a:tc>
                      <a:txBody>
                        <a:bodyPr/>
                        <a:lstStyle/>
                        <a:p>
                          <a:pPr rtl="0">
                            <a:buNone/>
                          </a:pPr>
                          <a:r>
                            <a:rPr lang="en-US" sz="2800" b="1" dirty="0">
                              <a:solidFill>
                                <a:srgbClr val="1F1F1F"/>
                              </a:solidFill>
                              <a:effectLst/>
                            </a:rPr>
                            <a:t>Parameter</a:t>
                          </a:r>
                          <a:endParaRPr lang="en-US" sz="2800" dirty="0">
                            <a:solidFill>
                              <a:srgbClr val="1F1F1F"/>
                            </a:solidFill>
                            <a:effectLst/>
                            <a:latin typeface="Google Sans Text"/>
                          </a:endParaRPr>
                        </a:p>
                      </a:txBody>
                      <a:tcPr marL="76200" marR="76200" marT="50800" marB="50800" anchor="ctr"/>
                    </a:tc>
                    <a:tc>
                      <a:txBody>
                        <a:bodyPr/>
                        <a:lstStyle/>
                        <a:p>
                          <a:pPr rtl="0">
                            <a:buNone/>
                          </a:pPr>
                          <a:r>
                            <a:rPr lang="en-US" sz="2800" b="1" dirty="0">
                              <a:solidFill>
                                <a:srgbClr val="1F1F1F"/>
                              </a:solidFill>
                              <a:effectLst/>
                            </a:rPr>
                            <a:t>Value</a:t>
                          </a:r>
                          <a:endParaRPr lang="en-US" sz="2800" dirty="0">
                            <a:solidFill>
                              <a:srgbClr val="1F1F1F"/>
                            </a:solidFill>
                            <a:effectLst/>
                            <a:latin typeface="Google Sans Text"/>
                          </a:endParaRPr>
                        </a:p>
                      </a:txBody>
                      <a:tcPr marL="76200" marR="76200" marT="50800" marB="50800" anchor="ctr"/>
                    </a:tc>
                    <a:tc>
                      <a:txBody>
                        <a:bodyPr/>
                        <a:lstStyle/>
                        <a:p>
                          <a:pPr rtl="0">
                            <a:buNone/>
                          </a:pPr>
                          <a:r>
                            <a:rPr lang="en-US" sz="2800" b="1" dirty="0">
                              <a:solidFill>
                                <a:srgbClr val="1F1F1F"/>
                              </a:solidFill>
                              <a:effectLst/>
                            </a:rPr>
                            <a:t>Derivation Logic</a:t>
                          </a:r>
                          <a:endParaRPr lang="en-US" sz="2800" dirty="0">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1608585692"/>
                      </a:ext>
                    </a:extLst>
                  </a:tr>
                  <a:tr h="467360">
                    <a:tc>
                      <a:txBody>
                        <a:bodyPr/>
                        <a:lstStyle/>
                        <a:p>
                          <a:endParaRPr lang="en-US"/>
                        </a:p>
                      </a:txBody>
                      <a:tcPr marL="76200" marR="76200" marT="50800" marB="50800" anchor="ctr">
                        <a:blipFill>
                          <a:blip r:embed="rId3"/>
                          <a:stretch>
                            <a:fillRect l="-219" t="-125974" r="-278118" b="-503896"/>
                          </a:stretch>
                        </a:blipFill>
                      </a:tcPr>
                    </a:tc>
                    <a:tc>
                      <a:txBody>
                        <a:bodyPr/>
                        <a:lstStyle/>
                        <a:p>
                          <a:pPr rtl="0">
                            <a:buNone/>
                          </a:pPr>
                          <a:r>
                            <a:rPr lang="en-US" sz="2400" b="1">
                              <a:solidFill>
                                <a:srgbClr val="1F1F1F"/>
                              </a:solidFill>
                              <a:effectLst/>
                            </a:rPr>
                            <a:t>494 mm</a:t>
                          </a:r>
                          <a:endParaRPr lang="en-US" sz="2400">
                            <a:solidFill>
                              <a:srgbClr val="1F1F1F"/>
                            </a:solidFill>
                            <a:effectLst/>
                            <a:latin typeface="Google Sans Text"/>
                          </a:endParaRPr>
                        </a:p>
                      </a:txBody>
                      <a:tcPr marL="76200" marR="76200" marT="50800" marB="50800" anchor="ctr"/>
                    </a:tc>
                    <a:tc>
                      <a:txBody>
                        <a:bodyPr/>
                        <a:lstStyle/>
                        <a:p>
                          <a:pPr rtl="0">
                            <a:buNone/>
                          </a:pPr>
                          <a:r>
                            <a:rPr lang="en-US" sz="2400" dirty="0">
                              <a:solidFill>
                                <a:srgbClr val="1F1F1F"/>
                              </a:solidFill>
                              <a:effectLst/>
                            </a:rPr>
                            <a:t>Based on Index</a:t>
                          </a:r>
                          <a:endParaRPr lang="en-US" sz="2400" dirty="0">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2540374533"/>
                      </a:ext>
                    </a:extLst>
                  </a:tr>
                  <a:tr h="467360">
                    <a:tc>
                      <a:txBody>
                        <a:bodyPr/>
                        <a:lstStyle/>
                        <a:p>
                          <a:endParaRPr lang="en-US"/>
                        </a:p>
                      </a:txBody>
                      <a:tcPr marL="76200" marR="76200" marT="50800" marB="50800" anchor="ctr">
                        <a:blipFill>
                          <a:blip r:embed="rId3"/>
                          <a:stretch>
                            <a:fillRect l="-219" t="-228947" r="-278118" b="-410526"/>
                          </a:stretch>
                        </a:blipFill>
                      </a:tcPr>
                    </a:tc>
                    <a:tc>
                      <a:txBody>
                        <a:bodyPr/>
                        <a:lstStyle/>
                        <a:p>
                          <a:pPr rtl="0">
                            <a:buNone/>
                          </a:pPr>
                          <a:r>
                            <a:rPr lang="en-US" sz="2400" b="1" dirty="0">
                              <a:solidFill>
                                <a:srgbClr val="1F1F1F"/>
                              </a:solidFill>
                              <a:effectLst/>
                            </a:rPr>
                            <a:t>98.8 mm</a:t>
                          </a:r>
                          <a:endParaRPr lang="en-US" sz="2400" dirty="0">
                            <a:solidFill>
                              <a:srgbClr val="1F1F1F"/>
                            </a:solidFill>
                            <a:effectLst/>
                            <a:latin typeface="Google Sans Text"/>
                          </a:endParaRPr>
                        </a:p>
                      </a:txBody>
                      <a:tcPr marL="76200" marR="76200" marT="50800" marB="50800" anchor="ctr"/>
                    </a:tc>
                    <a:tc>
                      <a:txBody>
                        <a:bodyPr/>
                        <a:lstStyle/>
                        <a:p>
                          <a:endParaRPr lang="en-US"/>
                        </a:p>
                      </a:txBody>
                      <a:tcPr marL="76200" marR="76200" marT="50800" marB="50800" anchor="ctr">
                        <a:blipFill>
                          <a:blip r:embed="rId3"/>
                          <a:stretch>
                            <a:fillRect l="-69813" t="-228947" r="-197" b="-410526"/>
                          </a:stretch>
                        </a:blipFill>
                      </a:tcPr>
                    </a:tc>
                    <a:extLst>
                      <a:ext uri="{0D108BD9-81ED-4DB2-BD59-A6C34878D82A}">
                        <a16:rowId xmlns:a16="http://schemas.microsoft.com/office/drawing/2014/main" val="3187780992"/>
                      </a:ext>
                    </a:extLst>
                  </a:tr>
                  <a:tr h="833120">
                    <a:tc>
                      <a:txBody>
                        <a:bodyPr/>
                        <a:lstStyle/>
                        <a:p>
                          <a:endParaRPr lang="en-US"/>
                        </a:p>
                      </a:txBody>
                      <a:tcPr marL="76200" marR="76200" marT="50800" marB="50800" anchor="ctr">
                        <a:blipFill>
                          <a:blip r:embed="rId3"/>
                          <a:stretch>
                            <a:fillRect l="-219" t="-182482" r="-278118" b="-127737"/>
                          </a:stretch>
                        </a:blipFill>
                      </a:tcPr>
                    </a:tc>
                    <a:tc>
                      <a:txBody>
                        <a:bodyPr/>
                        <a:lstStyle/>
                        <a:p>
                          <a:pPr rtl="0">
                            <a:buNone/>
                          </a:pPr>
                          <a:r>
                            <a:rPr lang="en-US" sz="2400" b="1" dirty="0">
                              <a:solidFill>
                                <a:srgbClr val="1F1F1F"/>
                              </a:solidFill>
                              <a:effectLst/>
                            </a:rPr>
                            <a:t>20</a:t>
                          </a:r>
                          <a:endParaRPr lang="en-US" sz="2400" dirty="0">
                            <a:solidFill>
                              <a:srgbClr val="1F1F1F"/>
                            </a:solidFill>
                            <a:effectLst/>
                            <a:latin typeface="Google Sans Text"/>
                          </a:endParaRPr>
                        </a:p>
                      </a:txBody>
                      <a:tcPr marL="76200" marR="76200" marT="50800" marB="50800" anchor="ctr">
                        <a:solidFill>
                          <a:srgbClr val="FFFFCC"/>
                        </a:solidFill>
                      </a:tcPr>
                    </a:tc>
                    <a:tc>
                      <a:txBody>
                        <a:bodyPr/>
                        <a:lstStyle/>
                        <a:p>
                          <a:endParaRPr lang="en-US"/>
                        </a:p>
                      </a:txBody>
                      <a:tcPr marL="76200" marR="76200" marT="50800" marB="50800" anchor="ctr">
                        <a:blipFill>
                          <a:blip r:embed="rId3"/>
                          <a:stretch>
                            <a:fillRect l="-69813" t="-182482" r="-197" b="-127737"/>
                          </a:stretch>
                        </a:blipFill>
                      </a:tcPr>
                    </a:tc>
                    <a:extLst>
                      <a:ext uri="{0D108BD9-81ED-4DB2-BD59-A6C34878D82A}">
                        <a16:rowId xmlns:a16="http://schemas.microsoft.com/office/drawing/2014/main" val="233746240"/>
                      </a:ext>
                    </a:extLst>
                  </a:tr>
                  <a:tr h="467360">
                    <a:tc>
                      <a:txBody>
                        <a:bodyPr/>
                        <a:lstStyle/>
                        <a:p>
                          <a:endParaRPr lang="en-US"/>
                        </a:p>
                      </a:txBody>
                      <a:tcPr marL="76200" marR="76200" marT="50800" marB="50800" anchor="ctr">
                        <a:blipFill>
                          <a:blip r:embed="rId3"/>
                          <a:stretch>
                            <a:fillRect l="-219" t="-502597" r="-278118" b="-127273"/>
                          </a:stretch>
                        </a:blipFill>
                      </a:tcPr>
                    </a:tc>
                    <a:tc>
                      <a:txBody>
                        <a:bodyPr/>
                        <a:lstStyle/>
                        <a:p>
                          <a:pPr rtl="0">
                            <a:buNone/>
                          </a:pPr>
                          <a:r>
                            <a:rPr lang="en-US" sz="2400" b="1" dirty="0">
                              <a:solidFill>
                                <a:srgbClr val="1F1F1F"/>
                              </a:solidFill>
                              <a:effectLst/>
                            </a:rPr>
                            <a:t>4.94 mm</a:t>
                          </a:r>
                          <a:endParaRPr lang="en-US" sz="2400" dirty="0">
                            <a:solidFill>
                              <a:srgbClr val="1F1F1F"/>
                            </a:solidFill>
                            <a:effectLst/>
                            <a:latin typeface="Google Sans Text"/>
                          </a:endParaRPr>
                        </a:p>
                      </a:txBody>
                      <a:tcPr marL="76200" marR="76200" marT="50800" marB="50800" anchor="ctr"/>
                    </a:tc>
                    <a:tc>
                      <a:txBody>
                        <a:bodyPr/>
                        <a:lstStyle/>
                        <a:p>
                          <a:pPr rtl="0">
                            <a:buNone/>
                          </a:pPr>
                          <a:r>
                            <a:rPr lang="en-US" sz="2400" dirty="0">
                              <a:solidFill>
                                <a:srgbClr val="1F1F1F"/>
                              </a:solidFill>
                              <a:effectLst/>
                            </a:rPr>
                            <a:t>= 98.8 / 20</a:t>
                          </a:r>
                          <a:endParaRPr lang="en-US" sz="2400" dirty="0">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2215359145"/>
                      </a:ext>
                    </a:extLst>
                  </a:tr>
                  <a:tr h="467360">
                    <a:tc>
                      <a:txBody>
                        <a:bodyPr/>
                        <a:lstStyle/>
                        <a:p>
                          <a:endParaRPr lang="en-US"/>
                        </a:p>
                      </a:txBody>
                      <a:tcPr marL="76200" marR="76200" marT="50800" marB="50800" anchor="ctr">
                        <a:blipFill>
                          <a:blip r:embed="rId3"/>
                          <a:stretch>
                            <a:fillRect l="-219" t="-602597" r="-278118" b="-27273"/>
                          </a:stretch>
                        </a:blipFill>
                      </a:tcPr>
                    </a:tc>
                    <a:tc>
                      <a:txBody>
                        <a:bodyPr/>
                        <a:lstStyle/>
                        <a:p>
                          <a:pPr rtl="0">
                            <a:buNone/>
                          </a:pPr>
                          <a:r>
                            <a:rPr lang="en-US" sz="2400" b="1" dirty="0">
                              <a:solidFill>
                                <a:srgbClr val="1F1F1F"/>
                              </a:solidFill>
                              <a:effectLst/>
                            </a:rPr>
                            <a:t>100</a:t>
                          </a:r>
                          <a:endParaRPr lang="en-US" sz="2400" dirty="0">
                            <a:solidFill>
                              <a:srgbClr val="1F1F1F"/>
                            </a:solidFill>
                            <a:effectLst/>
                            <a:latin typeface="Google Sans Text"/>
                          </a:endParaRPr>
                        </a:p>
                      </a:txBody>
                      <a:tcPr marL="76200" marR="76200" marT="50800" marB="50800" anchor="ctr">
                        <a:solidFill>
                          <a:srgbClr val="FFFFCC"/>
                        </a:solidFill>
                      </a:tcPr>
                    </a:tc>
                    <a:tc>
                      <a:txBody>
                        <a:bodyPr/>
                        <a:lstStyle/>
                        <a:p>
                          <a:pPr rtl="0">
                            <a:buNone/>
                          </a:pPr>
                          <a:r>
                            <a:rPr lang="en-US" sz="2400" dirty="0">
                              <a:solidFill>
                                <a:srgbClr val="1F1F1F"/>
                              </a:solidFill>
                              <a:effectLst/>
                            </a:rPr>
                            <a:t>= 100 X 5</a:t>
                          </a:r>
                          <a:endParaRPr lang="en-US" sz="2400" dirty="0">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2423825043"/>
                      </a:ext>
                    </a:extLst>
                  </a:tr>
                </a:tbl>
              </a:graphicData>
            </a:graphic>
          </p:graphicFrame>
        </mc:Fallback>
      </mc:AlternateContent>
      <p:sp>
        <p:nvSpPr>
          <p:cNvPr id="4" name="Slide Number Placeholder 3">
            <a:extLst>
              <a:ext uri="{FF2B5EF4-FFF2-40B4-BE49-F238E27FC236}">
                <a16:creationId xmlns:a16="http://schemas.microsoft.com/office/drawing/2014/main" id="{9FC9956F-CC5C-9E46-5D4B-110962BA0F08}"/>
              </a:ext>
            </a:extLst>
          </p:cNvPr>
          <p:cNvSpPr>
            <a:spLocks noGrp="1"/>
          </p:cNvSpPr>
          <p:nvPr>
            <p:ph type="sldNum" sz="quarter" idx="12"/>
          </p:nvPr>
        </p:nvSpPr>
        <p:spPr/>
        <p:txBody>
          <a:bodyPr/>
          <a:lstStyle/>
          <a:p>
            <a:fld id="{780D6419-8A5C-4EF9-A2D6-5BBA12496091}" type="slidenum">
              <a:rPr lang="en-US" smtClean="0"/>
              <a:t>3</a:t>
            </a:fld>
            <a:endParaRPr lang="en-US"/>
          </a:p>
        </p:txBody>
      </p:sp>
    </p:spTree>
    <p:extLst>
      <p:ext uri="{BB962C8B-B14F-4D97-AF65-F5344CB8AC3E}">
        <p14:creationId xmlns:p14="http://schemas.microsoft.com/office/powerpoint/2010/main" val="1262870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2E912F9-DF68-FACF-C9B4-19AA5E4C12E1}"/>
              </a:ext>
            </a:extLst>
          </p:cNvPr>
          <p:cNvSpPr/>
          <p:nvPr/>
        </p:nvSpPr>
        <p:spPr>
          <a:xfrm>
            <a:off x="699927" y="628848"/>
            <a:ext cx="10792146" cy="798116"/>
          </a:xfrm>
          <a:prstGeom prst="roundRect">
            <a:avLst>
              <a:gd name="adj" fmla="val 44919"/>
            </a:avLst>
          </a:prstGeom>
          <a:solidFill>
            <a:srgbClr val="4169E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Title 1">
            <a:extLst>
              <a:ext uri="{FF2B5EF4-FFF2-40B4-BE49-F238E27FC236}">
                <a16:creationId xmlns:a16="http://schemas.microsoft.com/office/drawing/2014/main" id="{0F26DF90-4DD8-A51C-8972-C0539D0045FA}"/>
              </a:ext>
            </a:extLst>
          </p:cNvPr>
          <p:cNvSpPr>
            <a:spLocks noGrp="1"/>
          </p:cNvSpPr>
          <p:nvPr>
            <p:ph type="title"/>
          </p:nvPr>
        </p:nvSpPr>
        <p:spPr/>
        <p:txBody>
          <a:bodyPr/>
          <a:lstStyle/>
          <a:p>
            <a:r>
              <a:rPr lang="en-US" b="1" dirty="0">
                <a:solidFill>
                  <a:schemeClr val="bg1"/>
                </a:solidFill>
              </a:rPr>
              <a:t>Critical Engineering Assumptions</a:t>
            </a:r>
          </a:p>
        </p:txBody>
      </p:sp>
      <p:sp>
        <p:nvSpPr>
          <p:cNvPr id="4" name="Slide Number Placeholder 3">
            <a:extLst>
              <a:ext uri="{FF2B5EF4-FFF2-40B4-BE49-F238E27FC236}">
                <a16:creationId xmlns:a16="http://schemas.microsoft.com/office/drawing/2014/main" id="{92A6DF7F-1138-34E0-F9AB-1A9ABA6AFF49}"/>
              </a:ext>
            </a:extLst>
          </p:cNvPr>
          <p:cNvSpPr>
            <a:spLocks noGrp="1"/>
          </p:cNvSpPr>
          <p:nvPr>
            <p:ph type="sldNum" sz="quarter" idx="12"/>
          </p:nvPr>
        </p:nvSpPr>
        <p:spPr/>
        <p:txBody>
          <a:bodyPr/>
          <a:lstStyle/>
          <a:p>
            <a:fld id="{780D6419-8A5C-4EF9-A2D6-5BBA12496091}" type="slidenum">
              <a:rPr lang="en-US" smtClean="0"/>
              <a:t>4</a:t>
            </a:fld>
            <a:endParaRPr lang="en-US"/>
          </a:p>
        </p:txBody>
      </p:sp>
      <p:graphicFrame>
        <p:nvGraphicFramePr>
          <p:cNvPr id="8" name="Content Placeholder 6">
            <a:extLst>
              <a:ext uri="{FF2B5EF4-FFF2-40B4-BE49-F238E27FC236}">
                <a16:creationId xmlns:a16="http://schemas.microsoft.com/office/drawing/2014/main" id="{3BE4A10C-4F3D-EC64-C642-A1FEFB8B4686}"/>
              </a:ext>
            </a:extLst>
          </p:cNvPr>
          <p:cNvGraphicFramePr>
            <a:graphicFrameLocks noGrp="1"/>
          </p:cNvGraphicFramePr>
          <p:nvPr>
            <p:ph idx="1"/>
            <p:extLst>
              <p:ext uri="{D42A27DB-BD31-4B8C-83A1-F6EECF244321}">
                <p14:modId xmlns:p14="http://schemas.microsoft.com/office/powerpoint/2010/main" val="267314184"/>
              </p:ext>
            </p:extLst>
          </p:nvPr>
        </p:nvGraphicFramePr>
        <p:xfrm>
          <a:off x="838200" y="1813560"/>
          <a:ext cx="10515600" cy="3088640"/>
        </p:xfrm>
        <a:graphic>
          <a:graphicData uri="http://schemas.openxmlformats.org/drawingml/2006/table">
            <a:tbl>
              <a:tblPr>
                <a:tableStyleId>{2D5ABB26-0587-4C30-8999-92F81FD0307C}</a:tableStyleId>
              </a:tblPr>
              <a:tblGrid>
                <a:gridCol w="5274733">
                  <a:extLst>
                    <a:ext uri="{9D8B030D-6E8A-4147-A177-3AD203B41FA5}">
                      <a16:colId xmlns:a16="http://schemas.microsoft.com/office/drawing/2014/main" val="3655177380"/>
                    </a:ext>
                  </a:extLst>
                </a:gridCol>
                <a:gridCol w="5240867">
                  <a:extLst>
                    <a:ext uri="{9D8B030D-6E8A-4147-A177-3AD203B41FA5}">
                      <a16:colId xmlns:a16="http://schemas.microsoft.com/office/drawing/2014/main" val="3174557023"/>
                    </a:ext>
                  </a:extLst>
                </a:gridCol>
              </a:tblGrid>
              <a:tr h="0">
                <a:tc>
                  <a:txBody>
                    <a:bodyPr/>
                    <a:lstStyle/>
                    <a:p>
                      <a:r>
                        <a:rPr lang="en-US" sz="2800" dirty="0"/>
                        <a:t>Loading</a:t>
                      </a:r>
                      <a:endParaRPr lang="en-US" sz="2800" b="1" dirty="0"/>
                    </a:p>
                    <a:p>
                      <a:r>
                        <a:rPr lang="en-US" sz="2400" b="1" dirty="0"/>
                        <a:t>Given:</a:t>
                      </a:r>
                      <a:r>
                        <a:rPr lang="en-US" sz="2400" dirty="0"/>
                        <a:t> Torque Magnitude = 494</a:t>
                      </a:r>
                    </a:p>
                    <a:p>
                      <a:r>
                        <a:rPr lang="en-US" sz="2400" b="1" dirty="0"/>
                        <a:t>Assumed Unit:</a:t>
                      </a:r>
                      <a:r>
                        <a:rPr lang="en-US" sz="2400" dirty="0"/>
                        <a:t> </a:t>
                      </a:r>
                      <a:r>
                        <a:rPr lang="en-US" sz="2400" b="1" dirty="0"/>
                        <a:t>Nm</a:t>
                      </a:r>
                      <a:r>
                        <a:rPr lang="en-US" sz="2400" dirty="0"/>
                        <a:t> (Newton Meters)</a:t>
                      </a:r>
                    </a:p>
                    <a:p>
                      <a:r>
                        <a:rPr lang="en-US" sz="2400" b="1" dirty="0"/>
                        <a:t>Reason:</a:t>
                      </a:r>
                      <a:r>
                        <a:rPr lang="en-US" sz="2400" dirty="0"/>
                        <a:t> 494 </a:t>
                      </a:r>
                      <a:r>
                        <a:rPr lang="en-US" sz="2400" dirty="0" err="1"/>
                        <a:t>Nmm</a:t>
                      </a:r>
                      <a:r>
                        <a:rPr lang="en-US" sz="2400" dirty="0"/>
                        <a:t> is negligible for a Ø494mm steel gear. To trigger the </a:t>
                      </a:r>
                      <a:r>
                        <a:rPr lang="en-US" sz="2400" b="1" dirty="0"/>
                        <a:t>plastic region</a:t>
                      </a:r>
                      <a:r>
                        <a:rPr lang="en-US" sz="2400" dirty="0"/>
                        <a:t> as requested, a realistic torque of 494 Nm is applied.</a:t>
                      </a:r>
                    </a:p>
                  </a:txBody>
                  <a:tcPr marL="76200" marR="76200" marT="50800" marB="50800">
                    <a:lnR w="12700" cap="flat" cmpd="sng" algn="ctr">
                      <a:solidFill>
                        <a:schemeClr val="tx1"/>
                      </a:solidFill>
                      <a:prstDash val="solid"/>
                      <a:round/>
                      <a:headEnd type="none" w="med" len="med"/>
                      <a:tailEnd type="none" w="med" len="med"/>
                    </a:lnR>
                  </a:tcPr>
                </a:tc>
                <a:tc>
                  <a:txBody>
                    <a:bodyPr/>
                    <a:lstStyle/>
                    <a:p>
                      <a:pPr algn="l" rtl="0">
                        <a:buNone/>
                      </a:pPr>
                      <a:r>
                        <a:rPr lang="en-US" sz="2800" dirty="0"/>
                        <a:t>Modeling</a:t>
                      </a:r>
                    </a:p>
                    <a:p>
                      <a:r>
                        <a:rPr lang="en-US" sz="2400" b="1" dirty="0"/>
                        <a:t>Geometry:</a:t>
                      </a:r>
                      <a:r>
                        <a:rPr lang="en-US" sz="2400" dirty="0"/>
                        <a:t> Involute Profile generated via </a:t>
                      </a:r>
                      <a:r>
                        <a:rPr lang="en-US" sz="2400" b="1" dirty="0"/>
                        <a:t>Solid Edge 2025</a:t>
                      </a:r>
                      <a:r>
                        <a:rPr lang="en-US" sz="2400" dirty="0"/>
                        <a:t>.</a:t>
                      </a:r>
                    </a:p>
                    <a:p>
                      <a:r>
                        <a:rPr lang="en-US" sz="2400" b="1" dirty="0"/>
                        <a:t>Reason:</a:t>
                      </a:r>
                      <a:r>
                        <a:rPr lang="en-US" sz="2400" dirty="0"/>
                        <a:t> Sketching in FEA tools is approximate. Dedicated CAD ensures geometric accuracy of the contact interface.</a:t>
                      </a:r>
                    </a:p>
                    <a:p>
                      <a:pPr algn="l" rtl="0">
                        <a:buNone/>
                      </a:pPr>
                      <a:endParaRPr lang="en-US" sz="2400" b="0" dirty="0">
                        <a:solidFill>
                          <a:srgbClr val="1F1F1F"/>
                        </a:solidFill>
                        <a:effectLst/>
                        <a:latin typeface="Google Sans Text"/>
                      </a:endParaRPr>
                    </a:p>
                  </a:txBody>
                  <a:tcPr marL="76200" marR="76200" marT="50800" marB="5080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08585692"/>
                  </a:ext>
                </a:extLst>
              </a:tr>
            </a:tbl>
          </a:graphicData>
        </a:graphic>
      </p:graphicFrame>
    </p:spTree>
    <p:extLst>
      <p:ext uri="{BB962C8B-B14F-4D97-AF65-F5344CB8AC3E}">
        <p14:creationId xmlns:p14="http://schemas.microsoft.com/office/powerpoint/2010/main" val="3787762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88255D5C-1E00-D88F-08D2-37B4D792E705}"/>
              </a:ext>
            </a:extLst>
          </p:cNvPr>
          <p:cNvSpPr/>
          <p:nvPr/>
        </p:nvSpPr>
        <p:spPr>
          <a:xfrm>
            <a:off x="699927" y="627871"/>
            <a:ext cx="10792146" cy="798116"/>
          </a:xfrm>
          <a:prstGeom prst="roundRect">
            <a:avLst>
              <a:gd name="adj" fmla="val 44919"/>
            </a:avLst>
          </a:prstGeom>
          <a:solidFill>
            <a:srgbClr val="4169E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Title 1">
            <a:extLst>
              <a:ext uri="{FF2B5EF4-FFF2-40B4-BE49-F238E27FC236}">
                <a16:creationId xmlns:a16="http://schemas.microsoft.com/office/drawing/2014/main" id="{7B3AB4E3-A8C6-93AA-0E80-A9AB9E81B7C3}"/>
              </a:ext>
            </a:extLst>
          </p:cNvPr>
          <p:cNvSpPr>
            <a:spLocks noGrp="1"/>
          </p:cNvSpPr>
          <p:nvPr>
            <p:ph type="title"/>
          </p:nvPr>
        </p:nvSpPr>
        <p:spPr/>
        <p:txBody>
          <a:bodyPr/>
          <a:lstStyle/>
          <a:p>
            <a:r>
              <a:rPr lang="en-US" b="1" dirty="0">
                <a:solidFill>
                  <a:schemeClr val="bg1"/>
                </a:solidFill>
              </a:rPr>
              <a:t>Simulation Workflow</a:t>
            </a:r>
          </a:p>
        </p:txBody>
      </p:sp>
      <p:sp>
        <p:nvSpPr>
          <p:cNvPr id="4" name="Slide Number Placeholder 3">
            <a:extLst>
              <a:ext uri="{FF2B5EF4-FFF2-40B4-BE49-F238E27FC236}">
                <a16:creationId xmlns:a16="http://schemas.microsoft.com/office/drawing/2014/main" id="{D64C44BC-5E79-F043-5667-F705383A58B6}"/>
              </a:ext>
            </a:extLst>
          </p:cNvPr>
          <p:cNvSpPr>
            <a:spLocks noGrp="1"/>
          </p:cNvSpPr>
          <p:nvPr>
            <p:ph type="sldNum" sz="quarter" idx="12"/>
          </p:nvPr>
        </p:nvSpPr>
        <p:spPr/>
        <p:txBody>
          <a:bodyPr/>
          <a:lstStyle/>
          <a:p>
            <a:fld id="{780D6419-8A5C-4EF9-A2D6-5BBA12496091}" type="slidenum">
              <a:rPr lang="en-US" smtClean="0"/>
              <a:t>5</a:t>
            </a:fld>
            <a:endParaRPr lang="en-US" dirty="0"/>
          </a:p>
        </p:txBody>
      </p:sp>
      <p:sp>
        <p:nvSpPr>
          <p:cNvPr id="8" name="Arrow: Bent-Up 7">
            <a:extLst>
              <a:ext uri="{FF2B5EF4-FFF2-40B4-BE49-F238E27FC236}">
                <a16:creationId xmlns:a16="http://schemas.microsoft.com/office/drawing/2014/main" id="{2794CF65-ED10-5005-15A5-69765F434F30}"/>
              </a:ext>
            </a:extLst>
          </p:cNvPr>
          <p:cNvSpPr/>
          <p:nvPr/>
        </p:nvSpPr>
        <p:spPr>
          <a:xfrm rot="5400000">
            <a:off x="1702531" y="2858777"/>
            <a:ext cx="835252" cy="950905"/>
          </a:xfrm>
          <a:prstGeom prst="bentUpArrow">
            <a:avLst>
              <a:gd name="adj1" fmla="val 32840"/>
              <a:gd name="adj2" fmla="val 25000"/>
              <a:gd name="adj3" fmla="val 35780"/>
            </a:avLst>
          </a:prstGeom>
        </p:spPr>
        <p:style>
          <a:lnRef idx="1">
            <a:schemeClr val="lt1">
              <a:hueOff val="0"/>
              <a:satOff val="0"/>
              <a:lumOff val="0"/>
              <a:alphaOff val="0"/>
            </a:schemeClr>
          </a:lnRef>
          <a:fillRef idx="1">
            <a:schemeClr val="accent1">
              <a:tint val="50000"/>
              <a:hueOff val="0"/>
              <a:satOff val="0"/>
              <a:lumOff val="0"/>
              <a:alphaOff val="0"/>
            </a:schemeClr>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nvGrpSpPr>
          <p:cNvPr id="9" name="Group 8">
            <a:extLst>
              <a:ext uri="{FF2B5EF4-FFF2-40B4-BE49-F238E27FC236}">
                <a16:creationId xmlns:a16="http://schemas.microsoft.com/office/drawing/2014/main" id="{D29F00C3-3059-BC22-7FEA-0EB9B7655D94}"/>
              </a:ext>
            </a:extLst>
          </p:cNvPr>
          <p:cNvGrpSpPr/>
          <p:nvPr/>
        </p:nvGrpSpPr>
        <p:grpSpPr>
          <a:xfrm>
            <a:off x="1519213" y="1953434"/>
            <a:ext cx="1730339" cy="984206"/>
            <a:chOff x="375572" y="34808"/>
            <a:chExt cx="1406074" cy="984206"/>
          </a:xfrm>
          <a:scene3d>
            <a:camera prst="orthographicFront"/>
            <a:lightRig rig="flat" dir="t"/>
          </a:scene3d>
        </p:grpSpPr>
        <p:sp>
          <p:nvSpPr>
            <p:cNvPr id="33" name="Rectangle: Rounded Corners 32">
              <a:extLst>
                <a:ext uri="{FF2B5EF4-FFF2-40B4-BE49-F238E27FC236}">
                  <a16:creationId xmlns:a16="http://schemas.microsoft.com/office/drawing/2014/main" id="{A9C20D01-770E-737A-A142-FAFA05BE52C1}"/>
                </a:ext>
              </a:extLst>
            </p:cNvPr>
            <p:cNvSpPr/>
            <p:nvPr/>
          </p:nvSpPr>
          <p:spPr>
            <a:xfrm>
              <a:off x="375572" y="34808"/>
              <a:ext cx="1406074" cy="984206"/>
            </a:xfrm>
            <a:prstGeom prst="roundRect">
              <a:avLst>
                <a:gd name="adj" fmla="val 1667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a:lstStyle/>
            <a:p>
              <a:endParaRPr lang="en-US" sz="2400"/>
            </a:p>
          </p:txBody>
        </p:sp>
        <p:sp>
          <p:nvSpPr>
            <p:cNvPr id="34" name="Rectangle: Rounded Corners 5">
              <a:extLst>
                <a:ext uri="{FF2B5EF4-FFF2-40B4-BE49-F238E27FC236}">
                  <a16:creationId xmlns:a16="http://schemas.microsoft.com/office/drawing/2014/main" id="{43B6489B-B247-3ADF-1FF3-3356C7CC519C}"/>
                </a:ext>
              </a:extLst>
            </p:cNvPr>
            <p:cNvSpPr txBox="1"/>
            <p:nvPr/>
          </p:nvSpPr>
          <p:spPr>
            <a:xfrm>
              <a:off x="423626" y="82862"/>
              <a:ext cx="1309966" cy="8880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2400" kern="1200" dirty="0"/>
                <a:t>CAD Modeling</a:t>
              </a:r>
            </a:p>
          </p:txBody>
        </p:sp>
      </p:grpSp>
      <p:grpSp>
        <p:nvGrpSpPr>
          <p:cNvPr id="10" name="Group 9">
            <a:extLst>
              <a:ext uri="{FF2B5EF4-FFF2-40B4-BE49-F238E27FC236}">
                <a16:creationId xmlns:a16="http://schemas.microsoft.com/office/drawing/2014/main" id="{8DB69BFA-A79A-C2E6-56F2-D6062A89AC84}"/>
              </a:ext>
            </a:extLst>
          </p:cNvPr>
          <p:cNvGrpSpPr/>
          <p:nvPr/>
        </p:nvGrpSpPr>
        <p:grpSpPr>
          <a:xfrm>
            <a:off x="3375042" y="2081428"/>
            <a:ext cx="2967031" cy="795478"/>
            <a:chOff x="1974708" y="144266"/>
            <a:chExt cx="2535922" cy="795478"/>
          </a:xfrm>
        </p:grpSpPr>
        <p:sp>
          <p:nvSpPr>
            <p:cNvPr id="31" name="Rectangle 30">
              <a:extLst>
                <a:ext uri="{FF2B5EF4-FFF2-40B4-BE49-F238E27FC236}">
                  <a16:creationId xmlns:a16="http://schemas.microsoft.com/office/drawing/2014/main" id="{07D4D9D0-658F-46CA-3703-108FB8B93421}"/>
                </a:ext>
              </a:extLst>
            </p:cNvPr>
            <p:cNvSpPr/>
            <p:nvPr/>
          </p:nvSpPr>
          <p:spPr>
            <a:xfrm>
              <a:off x="1974708" y="144266"/>
              <a:ext cx="2535922" cy="79547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sz="1600"/>
            </a:p>
          </p:txBody>
        </p:sp>
        <p:sp>
          <p:nvSpPr>
            <p:cNvPr id="32" name="TextBox 31">
              <a:extLst>
                <a:ext uri="{FF2B5EF4-FFF2-40B4-BE49-F238E27FC236}">
                  <a16:creationId xmlns:a16="http://schemas.microsoft.com/office/drawing/2014/main" id="{C3BD0F7C-1D30-F6FC-2157-29B9B919AFAF}"/>
                </a:ext>
              </a:extLst>
            </p:cNvPr>
            <p:cNvSpPr txBox="1"/>
            <p:nvPr/>
          </p:nvSpPr>
          <p:spPr>
            <a:xfrm>
              <a:off x="1974708" y="144266"/>
              <a:ext cx="2535922" cy="79547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2390" tIns="72390" rIns="72390" bIns="72390" numCol="1" spcCol="1270" anchor="ctr" anchorCtr="0">
              <a:noAutofit/>
            </a:bodyPr>
            <a:lstStyle/>
            <a:p>
              <a:pPr marL="114300" lvl="1" indent="-114300" algn="l" defTabSz="666750">
                <a:lnSpc>
                  <a:spcPct val="90000"/>
                </a:lnSpc>
                <a:spcBef>
                  <a:spcPct val="0"/>
                </a:spcBef>
                <a:spcAft>
                  <a:spcPct val="15000"/>
                </a:spcAft>
                <a:buChar char="•"/>
              </a:pPr>
              <a:r>
                <a:rPr lang="en-US" sz="1600" kern="1200" dirty="0"/>
                <a:t>Precise Involute Generation</a:t>
              </a:r>
            </a:p>
            <a:p>
              <a:pPr marL="114300" lvl="1" indent="-114300" algn="l" defTabSz="666750">
                <a:lnSpc>
                  <a:spcPct val="90000"/>
                </a:lnSpc>
                <a:spcBef>
                  <a:spcPct val="0"/>
                </a:spcBef>
                <a:spcAft>
                  <a:spcPct val="15000"/>
                </a:spcAft>
                <a:buChar char="•"/>
              </a:pPr>
              <a:r>
                <a:rPr lang="en-US" sz="1600" kern="1200" dirty="0"/>
                <a:t>Use Solid Edge</a:t>
              </a:r>
            </a:p>
          </p:txBody>
        </p:sp>
      </p:grpSp>
      <p:sp>
        <p:nvSpPr>
          <p:cNvPr id="11" name="Arrow: Bent-Up 10">
            <a:extLst>
              <a:ext uri="{FF2B5EF4-FFF2-40B4-BE49-F238E27FC236}">
                <a16:creationId xmlns:a16="http://schemas.microsoft.com/office/drawing/2014/main" id="{E514B1CB-7ECB-FADA-ADAD-2B3D610E1A62}"/>
              </a:ext>
            </a:extLst>
          </p:cNvPr>
          <p:cNvSpPr/>
          <p:nvPr/>
        </p:nvSpPr>
        <p:spPr>
          <a:xfrm rot="5400000">
            <a:off x="2971741" y="4061603"/>
            <a:ext cx="835252" cy="950905"/>
          </a:xfrm>
          <a:prstGeom prst="bentUpArrow">
            <a:avLst>
              <a:gd name="adj1" fmla="val 32840"/>
              <a:gd name="adj2" fmla="val 25000"/>
              <a:gd name="adj3" fmla="val 35780"/>
            </a:avLst>
          </a:prstGeom>
        </p:spPr>
        <p:style>
          <a:lnRef idx="1">
            <a:schemeClr val="lt1">
              <a:hueOff val="0"/>
              <a:satOff val="0"/>
              <a:lumOff val="0"/>
              <a:alphaOff val="0"/>
            </a:schemeClr>
          </a:lnRef>
          <a:fillRef idx="1">
            <a:schemeClr val="accent1">
              <a:tint val="50000"/>
              <a:hueOff val="0"/>
              <a:satOff val="0"/>
              <a:lumOff val="0"/>
              <a:alphaOff val="0"/>
            </a:schemeClr>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nvGrpSpPr>
          <p:cNvPr id="12" name="Group 11">
            <a:extLst>
              <a:ext uri="{FF2B5EF4-FFF2-40B4-BE49-F238E27FC236}">
                <a16:creationId xmlns:a16="http://schemas.microsoft.com/office/drawing/2014/main" id="{BD97616A-E68E-E46B-0B57-909F0F1EB778}"/>
              </a:ext>
            </a:extLst>
          </p:cNvPr>
          <p:cNvGrpSpPr/>
          <p:nvPr/>
        </p:nvGrpSpPr>
        <p:grpSpPr>
          <a:xfrm>
            <a:off x="2758983" y="3135223"/>
            <a:ext cx="1730339" cy="984206"/>
            <a:chOff x="1843942" y="1140397"/>
            <a:chExt cx="1406074" cy="984206"/>
          </a:xfrm>
          <a:scene3d>
            <a:camera prst="orthographicFront"/>
            <a:lightRig rig="flat" dir="t"/>
          </a:scene3d>
        </p:grpSpPr>
        <p:sp>
          <p:nvSpPr>
            <p:cNvPr id="29" name="Rectangle: Rounded Corners 28">
              <a:extLst>
                <a:ext uri="{FF2B5EF4-FFF2-40B4-BE49-F238E27FC236}">
                  <a16:creationId xmlns:a16="http://schemas.microsoft.com/office/drawing/2014/main" id="{7E7596F7-381A-C54D-B9AD-EC8D6BAAFE78}"/>
                </a:ext>
              </a:extLst>
            </p:cNvPr>
            <p:cNvSpPr/>
            <p:nvPr/>
          </p:nvSpPr>
          <p:spPr>
            <a:xfrm>
              <a:off x="1843942" y="1140397"/>
              <a:ext cx="1406074" cy="984206"/>
            </a:xfrm>
            <a:prstGeom prst="roundRect">
              <a:avLst>
                <a:gd name="adj" fmla="val 1667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a:lstStyle/>
            <a:p>
              <a:endParaRPr lang="en-US" sz="2400"/>
            </a:p>
          </p:txBody>
        </p:sp>
        <p:sp>
          <p:nvSpPr>
            <p:cNvPr id="30" name="Rectangle: Rounded Corners 10">
              <a:extLst>
                <a:ext uri="{FF2B5EF4-FFF2-40B4-BE49-F238E27FC236}">
                  <a16:creationId xmlns:a16="http://schemas.microsoft.com/office/drawing/2014/main" id="{E3EE4B72-A06B-AA5E-A162-47AFB85912C7}"/>
                </a:ext>
              </a:extLst>
            </p:cNvPr>
            <p:cNvSpPr txBox="1"/>
            <p:nvPr/>
          </p:nvSpPr>
          <p:spPr>
            <a:xfrm>
              <a:off x="1891996" y="1188451"/>
              <a:ext cx="1309966" cy="8880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2400" kern="1200" dirty="0"/>
                <a:t>Pre -Processing</a:t>
              </a:r>
            </a:p>
          </p:txBody>
        </p:sp>
      </p:grpSp>
      <p:grpSp>
        <p:nvGrpSpPr>
          <p:cNvPr id="13" name="Group 12">
            <a:extLst>
              <a:ext uri="{FF2B5EF4-FFF2-40B4-BE49-F238E27FC236}">
                <a16:creationId xmlns:a16="http://schemas.microsoft.com/office/drawing/2014/main" id="{24557AFD-0FF3-5CB7-1244-7E9DDE1AC156}"/>
              </a:ext>
            </a:extLst>
          </p:cNvPr>
          <p:cNvGrpSpPr/>
          <p:nvPr/>
        </p:nvGrpSpPr>
        <p:grpSpPr>
          <a:xfrm>
            <a:off x="4548458" y="3229587"/>
            <a:ext cx="3754608" cy="795478"/>
            <a:chOff x="3466691" y="1205634"/>
            <a:chExt cx="3754608" cy="795478"/>
          </a:xfrm>
        </p:grpSpPr>
        <p:sp>
          <p:nvSpPr>
            <p:cNvPr id="27" name="Rectangle 26">
              <a:extLst>
                <a:ext uri="{FF2B5EF4-FFF2-40B4-BE49-F238E27FC236}">
                  <a16:creationId xmlns:a16="http://schemas.microsoft.com/office/drawing/2014/main" id="{987F4A6C-3A72-3431-5F2E-C0E2D33ABD2B}"/>
                </a:ext>
              </a:extLst>
            </p:cNvPr>
            <p:cNvSpPr/>
            <p:nvPr/>
          </p:nvSpPr>
          <p:spPr>
            <a:xfrm>
              <a:off x="3466691" y="1205634"/>
              <a:ext cx="3754608" cy="79547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sz="1600"/>
            </a:p>
          </p:txBody>
        </p:sp>
        <p:sp>
          <p:nvSpPr>
            <p:cNvPr id="28" name="TextBox 27">
              <a:extLst>
                <a:ext uri="{FF2B5EF4-FFF2-40B4-BE49-F238E27FC236}">
                  <a16:creationId xmlns:a16="http://schemas.microsoft.com/office/drawing/2014/main" id="{F4D0137D-C3A1-A650-070E-6DDE1D11B2D0}"/>
                </a:ext>
              </a:extLst>
            </p:cNvPr>
            <p:cNvSpPr txBox="1"/>
            <p:nvPr/>
          </p:nvSpPr>
          <p:spPr>
            <a:xfrm>
              <a:off x="3466691" y="1205634"/>
              <a:ext cx="3754608" cy="79547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2390" tIns="72390" rIns="72390" bIns="72390" numCol="1" spcCol="1270" anchor="ctr" anchorCtr="0">
              <a:noAutofit/>
            </a:bodyPr>
            <a:lstStyle/>
            <a:p>
              <a:pPr marL="114300" lvl="1" indent="-114300" algn="l" defTabSz="666750">
                <a:lnSpc>
                  <a:spcPct val="90000"/>
                </a:lnSpc>
                <a:spcBef>
                  <a:spcPct val="0"/>
                </a:spcBef>
                <a:spcAft>
                  <a:spcPct val="15000"/>
                </a:spcAft>
                <a:buChar char="•"/>
              </a:pPr>
              <a:r>
                <a:rPr lang="en-US" sz="1600" kern="1200" dirty="0"/>
                <a:t>Material (Plasticity), Contact &amp; Mesh</a:t>
              </a:r>
            </a:p>
            <a:p>
              <a:pPr marL="114300" lvl="1" indent="-114300" algn="l" defTabSz="666750">
                <a:lnSpc>
                  <a:spcPct val="90000"/>
                </a:lnSpc>
                <a:spcBef>
                  <a:spcPct val="0"/>
                </a:spcBef>
                <a:spcAft>
                  <a:spcPct val="15000"/>
                </a:spcAft>
                <a:buChar char="•"/>
              </a:pPr>
              <a:r>
                <a:rPr lang="en-US" sz="1600" kern="1200" dirty="0"/>
                <a:t>Use Abaqus</a:t>
              </a:r>
            </a:p>
          </p:txBody>
        </p:sp>
      </p:grpSp>
      <p:sp>
        <p:nvSpPr>
          <p:cNvPr id="14" name="Arrow: Bent-Up 13">
            <a:extLst>
              <a:ext uri="{FF2B5EF4-FFF2-40B4-BE49-F238E27FC236}">
                <a16:creationId xmlns:a16="http://schemas.microsoft.com/office/drawing/2014/main" id="{B66669D1-AD6A-FA49-22DB-6ED7B6574EFA}"/>
              </a:ext>
            </a:extLst>
          </p:cNvPr>
          <p:cNvSpPr/>
          <p:nvPr/>
        </p:nvSpPr>
        <p:spPr>
          <a:xfrm rot="5400000">
            <a:off x="4254630" y="5242902"/>
            <a:ext cx="835252" cy="950905"/>
          </a:xfrm>
          <a:prstGeom prst="bentUpArrow">
            <a:avLst>
              <a:gd name="adj1" fmla="val 32840"/>
              <a:gd name="adj2" fmla="val 25000"/>
              <a:gd name="adj3" fmla="val 35780"/>
            </a:avLst>
          </a:prstGeom>
        </p:spPr>
        <p:style>
          <a:lnRef idx="1">
            <a:schemeClr val="lt1">
              <a:hueOff val="0"/>
              <a:satOff val="0"/>
              <a:lumOff val="0"/>
              <a:alphaOff val="0"/>
            </a:schemeClr>
          </a:lnRef>
          <a:fillRef idx="1">
            <a:schemeClr val="accent1">
              <a:tint val="50000"/>
              <a:hueOff val="0"/>
              <a:satOff val="0"/>
              <a:lumOff val="0"/>
              <a:alphaOff val="0"/>
            </a:schemeClr>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nvGrpSpPr>
          <p:cNvPr id="15" name="Group 14">
            <a:extLst>
              <a:ext uri="{FF2B5EF4-FFF2-40B4-BE49-F238E27FC236}">
                <a16:creationId xmlns:a16="http://schemas.microsoft.com/office/drawing/2014/main" id="{03453899-2788-7903-775E-A0A900749B62}"/>
              </a:ext>
            </a:extLst>
          </p:cNvPr>
          <p:cNvGrpSpPr/>
          <p:nvPr/>
        </p:nvGrpSpPr>
        <p:grpSpPr>
          <a:xfrm>
            <a:off x="4033955" y="4317011"/>
            <a:ext cx="1730339" cy="984206"/>
            <a:chOff x="3372914" y="2245985"/>
            <a:chExt cx="1406074" cy="984206"/>
          </a:xfrm>
          <a:scene3d>
            <a:camera prst="orthographicFront"/>
            <a:lightRig rig="flat" dir="t"/>
          </a:scene3d>
        </p:grpSpPr>
        <p:sp>
          <p:nvSpPr>
            <p:cNvPr id="25" name="Rectangle: Rounded Corners 24">
              <a:extLst>
                <a:ext uri="{FF2B5EF4-FFF2-40B4-BE49-F238E27FC236}">
                  <a16:creationId xmlns:a16="http://schemas.microsoft.com/office/drawing/2014/main" id="{87E0D76E-D77E-3C29-2CBB-6644A1181924}"/>
                </a:ext>
              </a:extLst>
            </p:cNvPr>
            <p:cNvSpPr/>
            <p:nvPr/>
          </p:nvSpPr>
          <p:spPr>
            <a:xfrm>
              <a:off x="3372914" y="2245985"/>
              <a:ext cx="1406074" cy="984206"/>
            </a:xfrm>
            <a:prstGeom prst="roundRect">
              <a:avLst>
                <a:gd name="adj" fmla="val 1667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a:lstStyle/>
            <a:p>
              <a:endParaRPr lang="en-US" sz="2400"/>
            </a:p>
          </p:txBody>
        </p:sp>
        <p:sp>
          <p:nvSpPr>
            <p:cNvPr id="26" name="Rectangle: Rounded Corners 15">
              <a:extLst>
                <a:ext uri="{FF2B5EF4-FFF2-40B4-BE49-F238E27FC236}">
                  <a16:creationId xmlns:a16="http://schemas.microsoft.com/office/drawing/2014/main" id="{7C42D7A5-4720-858D-FE7D-BEBBDE7F9A7B}"/>
                </a:ext>
              </a:extLst>
            </p:cNvPr>
            <p:cNvSpPr txBox="1"/>
            <p:nvPr/>
          </p:nvSpPr>
          <p:spPr>
            <a:xfrm>
              <a:off x="3420968" y="2294039"/>
              <a:ext cx="1309966" cy="8880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2400" kern="1200" dirty="0"/>
                <a:t>Solving</a:t>
              </a:r>
            </a:p>
          </p:txBody>
        </p:sp>
      </p:grpSp>
      <p:grpSp>
        <p:nvGrpSpPr>
          <p:cNvPr id="16" name="Group 15">
            <a:extLst>
              <a:ext uri="{FF2B5EF4-FFF2-40B4-BE49-F238E27FC236}">
                <a16:creationId xmlns:a16="http://schemas.microsoft.com/office/drawing/2014/main" id="{7FEF5211-8D78-186E-5DC2-A0937ECE20D3}"/>
              </a:ext>
            </a:extLst>
          </p:cNvPr>
          <p:cNvGrpSpPr/>
          <p:nvPr/>
        </p:nvGrpSpPr>
        <p:grpSpPr>
          <a:xfrm>
            <a:off x="5951542" y="4428252"/>
            <a:ext cx="3184218" cy="795478"/>
            <a:chOff x="5033807" y="2338690"/>
            <a:chExt cx="3184218" cy="795478"/>
          </a:xfrm>
        </p:grpSpPr>
        <p:sp>
          <p:nvSpPr>
            <p:cNvPr id="23" name="Rectangle 22">
              <a:extLst>
                <a:ext uri="{FF2B5EF4-FFF2-40B4-BE49-F238E27FC236}">
                  <a16:creationId xmlns:a16="http://schemas.microsoft.com/office/drawing/2014/main" id="{C426BCAA-8A31-7677-CBAA-2731603B28F2}"/>
                </a:ext>
              </a:extLst>
            </p:cNvPr>
            <p:cNvSpPr/>
            <p:nvPr/>
          </p:nvSpPr>
          <p:spPr>
            <a:xfrm>
              <a:off x="5033807" y="2338690"/>
              <a:ext cx="3184218" cy="79547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sz="1600"/>
            </a:p>
          </p:txBody>
        </p:sp>
        <p:sp>
          <p:nvSpPr>
            <p:cNvPr id="24" name="TextBox 23">
              <a:extLst>
                <a:ext uri="{FF2B5EF4-FFF2-40B4-BE49-F238E27FC236}">
                  <a16:creationId xmlns:a16="http://schemas.microsoft.com/office/drawing/2014/main" id="{2D5A4EA2-6F74-71B4-FF8F-748B07408D45}"/>
                </a:ext>
              </a:extLst>
            </p:cNvPr>
            <p:cNvSpPr txBox="1"/>
            <p:nvPr/>
          </p:nvSpPr>
          <p:spPr>
            <a:xfrm>
              <a:off x="5033807" y="2338690"/>
              <a:ext cx="3184218" cy="79547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2390" tIns="72390" rIns="72390" bIns="72390" numCol="1" spcCol="1270" anchor="ctr" anchorCtr="0">
              <a:noAutofit/>
            </a:bodyPr>
            <a:lstStyle/>
            <a:p>
              <a:pPr marL="114300" lvl="1" indent="-114300" algn="l" defTabSz="666750">
                <a:lnSpc>
                  <a:spcPct val="90000"/>
                </a:lnSpc>
                <a:spcBef>
                  <a:spcPct val="0"/>
                </a:spcBef>
                <a:spcAft>
                  <a:spcPct val="15000"/>
                </a:spcAft>
                <a:buChar char="•"/>
              </a:pPr>
              <a:r>
                <a:rPr lang="en-US" sz="1600" kern="1200" dirty="0"/>
                <a:t>Static General Step (Non – linear)</a:t>
              </a:r>
            </a:p>
            <a:p>
              <a:pPr marL="114300" lvl="1" indent="-114300" algn="l" defTabSz="666750">
                <a:lnSpc>
                  <a:spcPct val="90000"/>
                </a:lnSpc>
                <a:spcBef>
                  <a:spcPct val="0"/>
                </a:spcBef>
                <a:spcAft>
                  <a:spcPct val="15000"/>
                </a:spcAft>
                <a:buChar char="•"/>
              </a:pPr>
              <a:r>
                <a:rPr lang="en-US" sz="1600" kern="1200" dirty="0"/>
                <a:t>Use Abaqus</a:t>
              </a:r>
            </a:p>
          </p:txBody>
        </p:sp>
      </p:grpSp>
      <p:grpSp>
        <p:nvGrpSpPr>
          <p:cNvPr id="17" name="Group 16">
            <a:extLst>
              <a:ext uri="{FF2B5EF4-FFF2-40B4-BE49-F238E27FC236}">
                <a16:creationId xmlns:a16="http://schemas.microsoft.com/office/drawing/2014/main" id="{E9477037-C906-6C4C-CB78-D6C5116C1BBE}"/>
              </a:ext>
            </a:extLst>
          </p:cNvPr>
          <p:cNvGrpSpPr/>
          <p:nvPr/>
        </p:nvGrpSpPr>
        <p:grpSpPr>
          <a:xfrm>
            <a:off x="5293661" y="5526658"/>
            <a:ext cx="1730339" cy="984206"/>
            <a:chOff x="4873920" y="3328632"/>
            <a:chExt cx="1406074" cy="984206"/>
          </a:xfrm>
          <a:scene3d>
            <a:camera prst="orthographicFront"/>
            <a:lightRig rig="flat" dir="t"/>
          </a:scene3d>
        </p:grpSpPr>
        <p:sp>
          <p:nvSpPr>
            <p:cNvPr id="21" name="Rectangle: Rounded Corners 20">
              <a:extLst>
                <a:ext uri="{FF2B5EF4-FFF2-40B4-BE49-F238E27FC236}">
                  <a16:creationId xmlns:a16="http://schemas.microsoft.com/office/drawing/2014/main" id="{010C5DC3-8B06-E8D8-ABFD-70622278CB77}"/>
                </a:ext>
              </a:extLst>
            </p:cNvPr>
            <p:cNvSpPr/>
            <p:nvPr/>
          </p:nvSpPr>
          <p:spPr>
            <a:xfrm>
              <a:off x="4873920" y="3328632"/>
              <a:ext cx="1406074" cy="984206"/>
            </a:xfrm>
            <a:prstGeom prst="roundRect">
              <a:avLst>
                <a:gd name="adj" fmla="val 16670"/>
              </a:avLst>
            </a:prstGeom>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a:lstStyle/>
            <a:p>
              <a:endParaRPr lang="en-US" sz="2400"/>
            </a:p>
          </p:txBody>
        </p:sp>
        <p:sp>
          <p:nvSpPr>
            <p:cNvPr id="22" name="Rectangle: Rounded Corners 19">
              <a:extLst>
                <a:ext uri="{FF2B5EF4-FFF2-40B4-BE49-F238E27FC236}">
                  <a16:creationId xmlns:a16="http://schemas.microsoft.com/office/drawing/2014/main" id="{7CD6D6ED-82CB-7918-DED4-8C095AAEC671}"/>
                </a:ext>
              </a:extLst>
            </p:cNvPr>
            <p:cNvSpPr txBox="1"/>
            <p:nvPr/>
          </p:nvSpPr>
          <p:spPr>
            <a:xfrm>
              <a:off x="4921974" y="3376686"/>
              <a:ext cx="1309966" cy="888098"/>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2400" kern="1200" dirty="0"/>
                <a:t>Results &amp;</a:t>
              </a:r>
              <a:r>
                <a:rPr lang="en-US" sz="2400" dirty="0"/>
                <a:t> </a:t>
              </a:r>
              <a:r>
                <a:rPr lang="en-US" sz="2400" kern="1200" dirty="0"/>
                <a:t>Validation</a:t>
              </a:r>
            </a:p>
          </p:txBody>
        </p:sp>
      </p:grpSp>
      <p:grpSp>
        <p:nvGrpSpPr>
          <p:cNvPr id="18" name="Group 17">
            <a:extLst>
              <a:ext uri="{FF2B5EF4-FFF2-40B4-BE49-F238E27FC236}">
                <a16:creationId xmlns:a16="http://schemas.microsoft.com/office/drawing/2014/main" id="{85AA8E91-8DF4-9A9D-4A03-2C5F81BD0CAD}"/>
              </a:ext>
            </a:extLst>
          </p:cNvPr>
          <p:cNvGrpSpPr/>
          <p:nvPr/>
        </p:nvGrpSpPr>
        <p:grpSpPr>
          <a:xfrm>
            <a:off x="7083136" y="5621022"/>
            <a:ext cx="3729273" cy="795478"/>
            <a:chOff x="6236231" y="3371643"/>
            <a:chExt cx="4279368" cy="795478"/>
          </a:xfrm>
        </p:grpSpPr>
        <p:sp>
          <p:nvSpPr>
            <p:cNvPr id="19" name="Rectangle 18">
              <a:extLst>
                <a:ext uri="{FF2B5EF4-FFF2-40B4-BE49-F238E27FC236}">
                  <a16:creationId xmlns:a16="http://schemas.microsoft.com/office/drawing/2014/main" id="{3F96F024-3F13-3E5B-8604-846AADA0E20B}"/>
                </a:ext>
              </a:extLst>
            </p:cNvPr>
            <p:cNvSpPr/>
            <p:nvPr/>
          </p:nvSpPr>
          <p:spPr>
            <a:xfrm>
              <a:off x="6236231" y="3371643"/>
              <a:ext cx="4279368" cy="79547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sz="1600"/>
            </a:p>
          </p:txBody>
        </p:sp>
        <p:sp>
          <p:nvSpPr>
            <p:cNvPr id="20" name="TextBox 19">
              <a:extLst>
                <a:ext uri="{FF2B5EF4-FFF2-40B4-BE49-F238E27FC236}">
                  <a16:creationId xmlns:a16="http://schemas.microsoft.com/office/drawing/2014/main" id="{86AACAA0-32A3-08ED-3BE6-6B2266461699}"/>
                </a:ext>
              </a:extLst>
            </p:cNvPr>
            <p:cNvSpPr txBox="1"/>
            <p:nvPr/>
          </p:nvSpPr>
          <p:spPr>
            <a:xfrm>
              <a:off x="6236231" y="3371643"/>
              <a:ext cx="4279368" cy="79547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2870" tIns="102870" rIns="102870" bIns="102870" numCol="1" spcCol="1270" anchor="ctr" anchorCtr="0">
              <a:noAutofit/>
            </a:bodyPr>
            <a:lstStyle/>
            <a:p>
              <a:pPr marL="228600" lvl="1" indent="-228600" algn="l" defTabSz="933450">
                <a:lnSpc>
                  <a:spcPct val="90000"/>
                </a:lnSpc>
                <a:spcBef>
                  <a:spcPct val="0"/>
                </a:spcBef>
                <a:spcAft>
                  <a:spcPct val="15000"/>
                </a:spcAft>
                <a:buChar char="•"/>
              </a:pPr>
              <a:r>
                <a:rPr lang="en-US" sz="1600" kern="1200" dirty="0"/>
                <a:t>Stress concentration, Failure &amp; Mesh convergence Study</a:t>
              </a:r>
            </a:p>
            <a:p>
              <a:pPr marL="228600" lvl="1" indent="-228600" algn="l" defTabSz="933450">
                <a:lnSpc>
                  <a:spcPct val="90000"/>
                </a:lnSpc>
                <a:spcBef>
                  <a:spcPct val="0"/>
                </a:spcBef>
                <a:spcAft>
                  <a:spcPct val="15000"/>
                </a:spcAft>
                <a:buChar char="•"/>
              </a:pPr>
              <a:r>
                <a:rPr lang="en-US" sz="1600" dirty="0"/>
                <a:t>Use Abaqus</a:t>
              </a:r>
              <a:endParaRPr lang="en-US" sz="1600" kern="1200" dirty="0"/>
            </a:p>
          </p:txBody>
        </p:sp>
      </p:grpSp>
    </p:spTree>
    <p:extLst>
      <p:ext uri="{BB962C8B-B14F-4D97-AF65-F5344CB8AC3E}">
        <p14:creationId xmlns:p14="http://schemas.microsoft.com/office/powerpoint/2010/main" val="1004387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D39A8887-E666-9B3D-EDF3-0F956C0656FC}"/>
              </a:ext>
            </a:extLst>
          </p:cNvPr>
          <p:cNvSpPr/>
          <p:nvPr/>
        </p:nvSpPr>
        <p:spPr>
          <a:xfrm>
            <a:off x="699927" y="628848"/>
            <a:ext cx="10792146" cy="798116"/>
          </a:xfrm>
          <a:prstGeom prst="roundRect">
            <a:avLst>
              <a:gd name="adj" fmla="val 44919"/>
            </a:avLst>
          </a:prstGeom>
          <a:solidFill>
            <a:srgbClr val="4169E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Title 1">
            <a:extLst>
              <a:ext uri="{FF2B5EF4-FFF2-40B4-BE49-F238E27FC236}">
                <a16:creationId xmlns:a16="http://schemas.microsoft.com/office/drawing/2014/main" id="{F8342D3A-94DE-A3F8-01FB-041B5AACFBB3}"/>
              </a:ext>
            </a:extLst>
          </p:cNvPr>
          <p:cNvSpPr>
            <a:spLocks noGrp="1"/>
          </p:cNvSpPr>
          <p:nvPr>
            <p:ph type="title"/>
          </p:nvPr>
        </p:nvSpPr>
        <p:spPr/>
        <p:txBody>
          <a:bodyPr/>
          <a:lstStyle/>
          <a:p>
            <a:r>
              <a:rPr lang="en-US" b="1" dirty="0">
                <a:solidFill>
                  <a:schemeClr val="bg1"/>
                </a:solidFill>
              </a:rPr>
              <a:t>Material Definition: Stainless Steel</a:t>
            </a:r>
          </a:p>
        </p:txBody>
      </p:sp>
      <p:sp>
        <p:nvSpPr>
          <p:cNvPr id="4" name="Slide Number Placeholder 3">
            <a:extLst>
              <a:ext uri="{FF2B5EF4-FFF2-40B4-BE49-F238E27FC236}">
                <a16:creationId xmlns:a16="http://schemas.microsoft.com/office/drawing/2014/main" id="{6D09956A-C2BB-FCC2-19BD-5B8160E2A591}"/>
              </a:ext>
            </a:extLst>
          </p:cNvPr>
          <p:cNvSpPr>
            <a:spLocks noGrp="1"/>
          </p:cNvSpPr>
          <p:nvPr>
            <p:ph type="sldNum" sz="quarter" idx="12"/>
          </p:nvPr>
        </p:nvSpPr>
        <p:spPr/>
        <p:txBody>
          <a:bodyPr/>
          <a:lstStyle/>
          <a:p>
            <a:fld id="{780D6419-8A5C-4EF9-A2D6-5BBA12496091}" type="slidenum">
              <a:rPr lang="en-US" smtClean="0"/>
              <a:t>6</a:t>
            </a:fld>
            <a:endParaRPr lang="en-US"/>
          </a:p>
        </p:txBody>
      </p:sp>
      <p:sp>
        <p:nvSpPr>
          <p:cNvPr id="10" name="Content Placeholder 2">
            <a:extLst>
              <a:ext uri="{FF2B5EF4-FFF2-40B4-BE49-F238E27FC236}">
                <a16:creationId xmlns:a16="http://schemas.microsoft.com/office/drawing/2014/main" id="{2F9D0BD2-10F0-BD53-1875-352C94474156}"/>
              </a:ext>
            </a:extLst>
          </p:cNvPr>
          <p:cNvSpPr txBox="1">
            <a:spLocks/>
          </p:cNvSpPr>
          <p:nvPr/>
        </p:nvSpPr>
        <p:spPr>
          <a:xfrm>
            <a:off x="838200" y="3692723"/>
            <a:ext cx="10515600" cy="1265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Plastic Properties:</a:t>
            </a:r>
          </a:p>
          <a:p>
            <a:r>
              <a:rPr lang="en-US" sz="2400" dirty="0"/>
              <a:t>Yield Strength: ~250 MPa</a:t>
            </a: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F0B3712A-DD11-FBCB-4B80-8EB9BA58654C}"/>
                  </a:ext>
                </a:extLst>
              </p:cNvPr>
              <p:cNvSpPr txBox="1">
                <a:spLocks/>
              </p:cNvSpPr>
              <p:nvPr/>
            </p:nvSpPr>
            <p:spPr>
              <a:xfrm>
                <a:off x="838200" y="1954411"/>
                <a:ext cx="10515600" cy="1479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buNone/>
                </a:pPr>
                <a:r>
                  <a:rPr lang="en-US" b="1" dirty="0"/>
                  <a:t>Elastic Properties:</a:t>
                </a:r>
              </a:p>
              <a:p>
                <a:r>
                  <a:rPr lang="en-US" sz="2400" dirty="0"/>
                  <a:t>Young's Modulus (</a:t>
                </a:r>
                <a14:m>
                  <m:oMath xmlns:m="http://schemas.openxmlformats.org/officeDocument/2006/math">
                    <m:r>
                      <a:rPr lang="en-US" sz="2400" i="1" dirty="0" smtClean="0">
                        <a:latin typeface="Cambria Math" panose="02040503050406030204" pitchFamily="18" charset="0"/>
                      </a:rPr>
                      <m:t>𝐸</m:t>
                    </m:r>
                  </m:oMath>
                </a14:m>
                <a:r>
                  <a:rPr lang="en-US" sz="2400" dirty="0"/>
                  <a:t>): 193 GPa (approx.) </a:t>
                </a:r>
              </a:p>
              <a:p>
                <a:r>
                  <a:rPr lang="en-US" sz="2400" dirty="0"/>
                  <a:t>Poisson's Ratio (</a:t>
                </a:r>
                <a14:m>
                  <m:oMath xmlns:m="http://schemas.openxmlformats.org/officeDocument/2006/math">
                    <m:r>
                      <a:rPr lang="en-US" sz="2400" i="1" dirty="0" smtClean="0">
                        <a:latin typeface="Cambria Math" panose="02040503050406030204" pitchFamily="18" charset="0"/>
                      </a:rPr>
                      <m:t>𝜈</m:t>
                    </m:r>
                  </m:oMath>
                </a14:m>
                <a:r>
                  <a:rPr lang="en-US" sz="2400" dirty="0"/>
                  <a:t>): 0.3</a:t>
                </a:r>
              </a:p>
            </p:txBody>
          </p:sp>
        </mc:Choice>
        <mc:Fallback xmlns="">
          <p:sp>
            <p:nvSpPr>
              <p:cNvPr id="12" name="Content Placeholder 2">
                <a:extLst>
                  <a:ext uri="{FF2B5EF4-FFF2-40B4-BE49-F238E27FC236}">
                    <a16:creationId xmlns:a16="http://schemas.microsoft.com/office/drawing/2014/main" id="{F0B3712A-DD11-FBCB-4B80-8EB9BA58654C}"/>
                  </a:ext>
                </a:extLst>
              </p:cNvPr>
              <p:cNvSpPr txBox="1">
                <a:spLocks noRot="1" noChangeAspect="1" noMove="1" noResize="1" noEditPoints="1" noAdjustHandles="1" noChangeArrowheads="1" noChangeShapeType="1" noTextEdit="1"/>
              </p:cNvSpPr>
              <p:nvPr/>
            </p:nvSpPr>
            <p:spPr>
              <a:xfrm>
                <a:off x="838200" y="1954411"/>
                <a:ext cx="10515600" cy="1479820"/>
              </a:xfrm>
              <a:prstGeom prst="rect">
                <a:avLst/>
              </a:prstGeom>
              <a:blipFill>
                <a:blip r:embed="rId3"/>
                <a:stretch>
                  <a:fillRect l="-1217" t="-4545" b="-6612"/>
                </a:stretch>
              </a:blipFill>
            </p:spPr>
            <p:txBody>
              <a:bodyPr/>
              <a:lstStyle/>
              <a:p>
                <a:r>
                  <a:rPr lang="en-US">
                    <a:noFill/>
                  </a:rPr>
                  <a:t> </a:t>
                </a:r>
              </a:p>
            </p:txBody>
          </p:sp>
        </mc:Fallback>
      </mc:AlternateContent>
    </p:spTree>
    <p:extLst>
      <p:ext uri="{BB962C8B-B14F-4D97-AF65-F5344CB8AC3E}">
        <p14:creationId xmlns:p14="http://schemas.microsoft.com/office/powerpoint/2010/main" val="791381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B828C76-BAF6-2E45-DC58-A9FCD73EE99D}"/>
              </a:ext>
            </a:extLst>
          </p:cNvPr>
          <p:cNvSpPr/>
          <p:nvPr/>
        </p:nvSpPr>
        <p:spPr>
          <a:xfrm>
            <a:off x="699927" y="628848"/>
            <a:ext cx="10792146" cy="798116"/>
          </a:xfrm>
          <a:prstGeom prst="roundRect">
            <a:avLst>
              <a:gd name="adj" fmla="val 44919"/>
            </a:avLst>
          </a:prstGeom>
          <a:solidFill>
            <a:srgbClr val="4169E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Title 1">
            <a:extLst>
              <a:ext uri="{FF2B5EF4-FFF2-40B4-BE49-F238E27FC236}">
                <a16:creationId xmlns:a16="http://schemas.microsoft.com/office/drawing/2014/main" id="{E968B21E-A970-6A5A-E1AB-827067CB07A4}"/>
              </a:ext>
            </a:extLst>
          </p:cNvPr>
          <p:cNvSpPr>
            <a:spLocks noGrp="1"/>
          </p:cNvSpPr>
          <p:nvPr>
            <p:ph type="title"/>
          </p:nvPr>
        </p:nvSpPr>
        <p:spPr/>
        <p:txBody>
          <a:bodyPr/>
          <a:lstStyle/>
          <a:p>
            <a:r>
              <a:rPr lang="en-US" b="1" dirty="0">
                <a:solidFill>
                  <a:schemeClr val="bg1"/>
                </a:solidFill>
              </a:rPr>
              <a:t>Parametric CAD Generation</a:t>
            </a:r>
          </a:p>
        </p:txBody>
      </p:sp>
      <p:sp>
        <p:nvSpPr>
          <p:cNvPr id="4" name="Slide Number Placeholder 3">
            <a:extLst>
              <a:ext uri="{FF2B5EF4-FFF2-40B4-BE49-F238E27FC236}">
                <a16:creationId xmlns:a16="http://schemas.microsoft.com/office/drawing/2014/main" id="{555AACCA-F235-4DB4-81F6-A3A914B07A7E}"/>
              </a:ext>
            </a:extLst>
          </p:cNvPr>
          <p:cNvSpPr>
            <a:spLocks noGrp="1"/>
          </p:cNvSpPr>
          <p:nvPr>
            <p:ph type="sldNum" sz="quarter" idx="12"/>
          </p:nvPr>
        </p:nvSpPr>
        <p:spPr/>
        <p:txBody>
          <a:bodyPr/>
          <a:lstStyle/>
          <a:p>
            <a:fld id="{780D6419-8A5C-4EF9-A2D6-5BBA12496091}" type="slidenum">
              <a:rPr lang="en-US" smtClean="0"/>
              <a:t>7</a:t>
            </a:fld>
            <a:endParaRPr lang="en-US"/>
          </a:p>
        </p:txBody>
      </p:sp>
      <p:pic>
        <p:nvPicPr>
          <p:cNvPr id="7" name="Picture 6" descr="A screenshot of a computer program&#10;&#10;AI-generated content may be incorrect.">
            <a:extLst>
              <a:ext uri="{FF2B5EF4-FFF2-40B4-BE49-F238E27FC236}">
                <a16:creationId xmlns:a16="http://schemas.microsoft.com/office/drawing/2014/main" id="{563ED5FD-25A0-F4D9-B5E6-8FD3225B7582}"/>
              </a:ext>
            </a:extLst>
          </p:cNvPr>
          <p:cNvPicPr>
            <a:picLocks noChangeAspect="1"/>
          </p:cNvPicPr>
          <p:nvPr/>
        </p:nvPicPr>
        <p:blipFill>
          <a:blip r:embed="rId3">
            <a:extLst>
              <a:ext uri="{28A0092B-C50C-407E-A947-70E740481C1C}">
                <a14:useLocalDpi xmlns:a14="http://schemas.microsoft.com/office/drawing/2010/main" val="0"/>
              </a:ext>
            </a:extLst>
          </a:blip>
          <a:srcRect l="17027" t="18386" r="28703" b="11066"/>
          <a:stretch>
            <a:fillRect/>
          </a:stretch>
        </p:blipFill>
        <p:spPr>
          <a:xfrm>
            <a:off x="838200" y="2676975"/>
            <a:ext cx="3685674" cy="2693921"/>
          </a:xfrm>
          <a:prstGeom prst="rect">
            <a:avLst/>
          </a:prstGeom>
        </p:spPr>
      </p:pic>
      <p:pic>
        <p:nvPicPr>
          <p:cNvPr id="11" name="Picture 10" descr="A white gear with a blue and green dial&#10;&#10;AI-generated content may be incorrect.">
            <a:extLst>
              <a:ext uri="{FF2B5EF4-FFF2-40B4-BE49-F238E27FC236}">
                <a16:creationId xmlns:a16="http://schemas.microsoft.com/office/drawing/2014/main" id="{9075A75E-BD5C-6581-8089-B34E967F9152}"/>
              </a:ext>
            </a:extLst>
          </p:cNvPr>
          <p:cNvPicPr>
            <a:picLocks noChangeAspect="1"/>
          </p:cNvPicPr>
          <p:nvPr/>
        </p:nvPicPr>
        <p:blipFill>
          <a:blip r:embed="rId4">
            <a:extLst>
              <a:ext uri="{28A0092B-C50C-407E-A947-70E740481C1C}">
                <a14:useLocalDpi xmlns:a14="http://schemas.microsoft.com/office/drawing/2010/main" val="0"/>
              </a:ext>
            </a:extLst>
          </a:blip>
          <a:srcRect l="16369" t="14326" r="15880" b="17209"/>
          <a:stretch>
            <a:fillRect/>
          </a:stretch>
        </p:blipFill>
        <p:spPr>
          <a:xfrm>
            <a:off x="8307088" y="4243036"/>
            <a:ext cx="71870" cy="45719"/>
          </a:xfrm>
          <a:prstGeom prst="rect">
            <a:avLst/>
          </a:prstGeom>
        </p:spPr>
      </p:pic>
      <p:pic>
        <p:nvPicPr>
          <p:cNvPr id="13" name="Picture 12" descr="A close-up of a gear&#10;&#10;AI-generated content may be incorrect.">
            <a:extLst>
              <a:ext uri="{FF2B5EF4-FFF2-40B4-BE49-F238E27FC236}">
                <a16:creationId xmlns:a16="http://schemas.microsoft.com/office/drawing/2014/main" id="{392E6429-BBD2-7E52-3D65-D3B890FF86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7185" y="4725155"/>
            <a:ext cx="72628" cy="45719"/>
          </a:xfrm>
          <a:prstGeom prst="rect">
            <a:avLst/>
          </a:prstGeom>
        </p:spPr>
      </p:pic>
      <p:sp>
        <p:nvSpPr>
          <p:cNvPr id="6" name="TextBox 5">
            <a:extLst>
              <a:ext uri="{FF2B5EF4-FFF2-40B4-BE49-F238E27FC236}">
                <a16:creationId xmlns:a16="http://schemas.microsoft.com/office/drawing/2014/main" id="{853EA747-23D8-8A22-6A99-B709E465CC88}"/>
              </a:ext>
            </a:extLst>
          </p:cNvPr>
          <p:cNvSpPr txBox="1"/>
          <p:nvPr/>
        </p:nvSpPr>
        <p:spPr>
          <a:xfrm>
            <a:off x="326115" y="5559122"/>
            <a:ext cx="4709843" cy="369332"/>
          </a:xfrm>
          <a:prstGeom prst="rect">
            <a:avLst/>
          </a:prstGeom>
          <a:noFill/>
        </p:spPr>
        <p:txBody>
          <a:bodyPr wrap="square">
            <a:spAutoFit/>
          </a:bodyPr>
          <a:lstStyle/>
          <a:p>
            <a:r>
              <a:rPr lang="en-US" dirty="0"/>
              <a:t>Input Parameters based on index calculations</a:t>
            </a:r>
          </a:p>
        </p:txBody>
      </p:sp>
      <p:sp>
        <p:nvSpPr>
          <p:cNvPr id="8" name="TextBox 7">
            <a:extLst>
              <a:ext uri="{FF2B5EF4-FFF2-40B4-BE49-F238E27FC236}">
                <a16:creationId xmlns:a16="http://schemas.microsoft.com/office/drawing/2014/main" id="{61ED7FCB-05F5-A29C-A03E-DB0F5DD9E1E0}"/>
              </a:ext>
            </a:extLst>
          </p:cNvPr>
          <p:cNvSpPr txBox="1"/>
          <p:nvPr/>
        </p:nvSpPr>
        <p:spPr>
          <a:xfrm>
            <a:off x="5988978" y="5781365"/>
            <a:ext cx="5004798" cy="369332"/>
          </a:xfrm>
          <a:prstGeom prst="rect">
            <a:avLst/>
          </a:prstGeom>
          <a:noFill/>
        </p:spPr>
        <p:txBody>
          <a:bodyPr wrap="square">
            <a:spAutoFit/>
          </a:bodyPr>
          <a:lstStyle/>
          <a:p>
            <a:r>
              <a:rPr lang="en-US" dirty="0"/>
              <a:t>Generated Assembly with precise Involute Profile</a:t>
            </a:r>
          </a:p>
        </p:txBody>
      </p:sp>
      <p:pic>
        <p:nvPicPr>
          <p:cNvPr id="10" name="Picture 9" descr="A computer screen shot of a computer screen&#10;&#10;AI-generated content may be incorrect.">
            <a:extLst>
              <a:ext uri="{FF2B5EF4-FFF2-40B4-BE49-F238E27FC236}">
                <a16:creationId xmlns:a16="http://schemas.microsoft.com/office/drawing/2014/main" id="{A57B2D37-14AC-4816-CF30-FDC83200B9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22103" y="2038101"/>
            <a:ext cx="6369970" cy="3581656"/>
          </a:xfrm>
          <a:prstGeom prst="rect">
            <a:avLst/>
          </a:prstGeom>
        </p:spPr>
      </p:pic>
    </p:spTree>
    <p:extLst>
      <p:ext uri="{BB962C8B-B14F-4D97-AF65-F5344CB8AC3E}">
        <p14:creationId xmlns:p14="http://schemas.microsoft.com/office/powerpoint/2010/main" val="3050424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BFAC3-1218-8636-3BF9-E0161FA267C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5C6C2C2-80EF-43D7-7705-93765CE77F8D}"/>
              </a:ext>
            </a:extLst>
          </p:cNvPr>
          <p:cNvSpPr/>
          <p:nvPr/>
        </p:nvSpPr>
        <p:spPr>
          <a:xfrm>
            <a:off x="699927" y="628848"/>
            <a:ext cx="10792146" cy="798116"/>
          </a:xfrm>
          <a:prstGeom prst="roundRect">
            <a:avLst>
              <a:gd name="adj" fmla="val 44919"/>
            </a:avLst>
          </a:prstGeom>
          <a:solidFill>
            <a:srgbClr val="4169E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Title 1">
            <a:extLst>
              <a:ext uri="{FF2B5EF4-FFF2-40B4-BE49-F238E27FC236}">
                <a16:creationId xmlns:a16="http://schemas.microsoft.com/office/drawing/2014/main" id="{99F38B39-4580-DCCF-06DC-4DB22A28782C}"/>
              </a:ext>
            </a:extLst>
          </p:cNvPr>
          <p:cNvSpPr>
            <a:spLocks noGrp="1"/>
          </p:cNvSpPr>
          <p:nvPr>
            <p:ph type="title"/>
          </p:nvPr>
        </p:nvSpPr>
        <p:spPr/>
        <p:txBody>
          <a:bodyPr/>
          <a:lstStyle/>
          <a:p>
            <a:r>
              <a:rPr lang="en-US" b="1" dirty="0">
                <a:solidFill>
                  <a:schemeClr val="bg1"/>
                </a:solidFill>
              </a:rPr>
              <a:t>Parametric CAD Generation</a:t>
            </a:r>
          </a:p>
        </p:txBody>
      </p:sp>
      <p:sp>
        <p:nvSpPr>
          <p:cNvPr id="4" name="Slide Number Placeholder 3">
            <a:extLst>
              <a:ext uri="{FF2B5EF4-FFF2-40B4-BE49-F238E27FC236}">
                <a16:creationId xmlns:a16="http://schemas.microsoft.com/office/drawing/2014/main" id="{9731B576-CB0E-46B5-533A-EB1A28F4D789}"/>
              </a:ext>
            </a:extLst>
          </p:cNvPr>
          <p:cNvSpPr>
            <a:spLocks noGrp="1"/>
          </p:cNvSpPr>
          <p:nvPr>
            <p:ph type="sldNum" sz="quarter" idx="12"/>
          </p:nvPr>
        </p:nvSpPr>
        <p:spPr/>
        <p:txBody>
          <a:bodyPr/>
          <a:lstStyle/>
          <a:p>
            <a:fld id="{780D6419-8A5C-4EF9-A2D6-5BBA12496091}" type="slidenum">
              <a:rPr lang="en-US" smtClean="0"/>
              <a:t>8</a:t>
            </a:fld>
            <a:endParaRPr lang="en-US"/>
          </a:p>
        </p:txBody>
      </p:sp>
      <p:pic>
        <p:nvPicPr>
          <p:cNvPr id="7" name="Picture 6" descr="A screenshot of a computer program&#10;&#10;AI-generated content may be incorrect.">
            <a:extLst>
              <a:ext uri="{FF2B5EF4-FFF2-40B4-BE49-F238E27FC236}">
                <a16:creationId xmlns:a16="http://schemas.microsoft.com/office/drawing/2014/main" id="{330E2B7A-61E1-E48C-A62C-EDA0357C0C50}"/>
              </a:ext>
            </a:extLst>
          </p:cNvPr>
          <p:cNvPicPr>
            <a:picLocks noChangeAspect="1"/>
          </p:cNvPicPr>
          <p:nvPr/>
        </p:nvPicPr>
        <p:blipFill>
          <a:blip r:embed="rId3">
            <a:extLst>
              <a:ext uri="{28A0092B-C50C-407E-A947-70E740481C1C}">
                <a14:useLocalDpi xmlns:a14="http://schemas.microsoft.com/office/drawing/2010/main" val="0"/>
              </a:ext>
            </a:extLst>
          </a:blip>
          <a:srcRect l="17027" t="18386" r="28703" b="11066"/>
          <a:stretch>
            <a:fillRect/>
          </a:stretch>
        </p:blipFill>
        <p:spPr>
          <a:xfrm>
            <a:off x="-3873500" y="2359475"/>
            <a:ext cx="3685674" cy="2693921"/>
          </a:xfrm>
          <a:prstGeom prst="rect">
            <a:avLst/>
          </a:prstGeom>
        </p:spPr>
      </p:pic>
      <p:pic>
        <p:nvPicPr>
          <p:cNvPr id="11" name="Picture 10" descr="A white gear with a blue and green dial&#10;&#10;AI-generated content may be incorrect.">
            <a:extLst>
              <a:ext uri="{FF2B5EF4-FFF2-40B4-BE49-F238E27FC236}">
                <a16:creationId xmlns:a16="http://schemas.microsoft.com/office/drawing/2014/main" id="{CC03E34F-CA90-70B1-4F4E-0501A51ADEA9}"/>
              </a:ext>
            </a:extLst>
          </p:cNvPr>
          <p:cNvPicPr>
            <a:picLocks noChangeAspect="1"/>
          </p:cNvPicPr>
          <p:nvPr/>
        </p:nvPicPr>
        <p:blipFill>
          <a:blip r:embed="rId4">
            <a:extLst>
              <a:ext uri="{28A0092B-C50C-407E-A947-70E740481C1C}">
                <a14:useLocalDpi xmlns:a14="http://schemas.microsoft.com/office/drawing/2010/main" val="0"/>
              </a:ext>
            </a:extLst>
          </a:blip>
          <a:srcRect l="16369" t="14326" r="15880" b="17209"/>
          <a:stretch>
            <a:fillRect/>
          </a:stretch>
        </p:blipFill>
        <p:spPr>
          <a:xfrm>
            <a:off x="4553770" y="1837154"/>
            <a:ext cx="5910007" cy="3759545"/>
          </a:xfrm>
          <a:prstGeom prst="rect">
            <a:avLst/>
          </a:prstGeom>
        </p:spPr>
      </p:pic>
      <p:pic>
        <p:nvPicPr>
          <p:cNvPr id="13" name="Picture 12" descr="A close-up of a gear&#10;&#10;AI-generated content may be incorrect.">
            <a:extLst>
              <a:ext uri="{FF2B5EF4-FFF2-40B4-BE49-F238E27FC236}">
                <a16:creationId xmlns:a16="http://schemas.microsoft.com/office/drawing/2014/main" id="{7C8C97E6-8278-604B-FC85-12A4DBAF57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10448" y="4797445"/>
            <a:ext cx="72628" cy="45719"/>
          </a:xfrm>
          <a:prstGeom prst="rect">
            <a:avLst/>
          </a:prstGeom>
        </p:spPr>
      </p:pic>
      <p:sp>
        <p:nvSpPr>
          <p:cNvPr id="6" name="TextBox 5">
            <a:extLst>
              <a:ext uri="{FF2B5EF4-FFF2-40B4-BE49-F238E27FC236}">
                <a16:creationId xmlns:a16="http://schemas.microsoft.com/office/drawing/2014/main" id="{AF02C767-F9D6-2F65-3BAB-AB13E1CE2D68}"/>
              </a:ext>
            </a:extLst>
          </p:cNvPr>
          <p:cNvSpPr txBox="1"/>
          <p:nvPr/>
        </p:nvSpPr>
        <p:spPr>
          <a:xfrm>
            <a:off x="-4709843" y="5596699"/>
            <a:ext cx="4709843" cy="369332"/>
          </a:xfrm>
          <a:prstGeom prst="rect">
            <a:avLst/>
          </a:prstGeom>
          <a:noFill/>
        </p:spPr>
        <p:txBody>
          <a:bodyPr wrap="square">
            <a:spAutoFit/>
          </a:bodyPr>
          <a:lstStyle/>
          <a:p>
            <a:r>
              <a:rPr lang="en-US" dirty="0"/>
              <a:t>Input Parameters based on index calculations</a:t>
            </a:r>
          </a:p>
        </p:txBody>
      </p:sp>
      <p:sp>
        <p:nvSpPr>
          <p:cNvPr id="8" name="TextBox 7">
            <a:extLst>
              <a:ext uri="{FF2B5EF4-FFF2-40B4-BE49-F238E27FC236}">
                <a16:creationId xmlns:a16="http://schemas.microsoft.com/office/drawing/2014/main" id="{35785E38-010B-AD4B-C9C1-DF28F2A6F0C5}"/>
              </a:ext>
            </a:extLst>
          </p:cNvPr>
          <p:cNvSpPr txBox="1"/>
          <p:nvPr/>
        </p:nvSpPr>
        <p:spPr>
          <a:xfrm>
            <a:off x="3749775" y="5905396"/>
            <a:ext cx="5004798" cy="369332"/>
          </a:xfrm>
          <a:prstGeom prst="rect">
            <a:avLst/>
          </a:prstGeom>
          <a:noFill/>
        </p:spPr>
        <p:txBody>
          <a:bodyPr wrap="square">
            <a:spAutoFit/>
          </a:bodyPr>
          <a:lstStyle/>
          <a:p>
            <a:r>
              <a:rPr lang="en-US" dirty="0"/>
              <a:t>Generated Assembly with precise Involute Profile</a:t>
            </a:r>
          </a:p>
        </p:txBody>
      </p:sp>
      <p:pic>
        <p:nvPicPr>
          <p:cNvPr id="10" name="Picture 9" descr="A computer screen shot of a computer screen&#10;&#10;AI-generated content may be incorrect.">
            <a:extLst>
              <a:ext uri="{FF2B5EF4-FFF2-40B4-BE49-F238E27FC236}">
                <a16:creationId xmlns:a16="http://schemas.microsoft.com/office/drawing/2014/main" id="{830D25E2-49DC-AE01-D7B0-434582FF1B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 y="4495799"/>
            <a:ext cx="2107412" cy="1184939"/>
          </a:xfrm>
          <a:prstGeom prst="rect">
            <a:avLst/>
          </a:prstGeom>
        </p:spPr>
      </p:pic>
    </p:spTree>
    <p:extLst>
      <p:ext uri="{BB962C8B-B14F-4D97-AF65-F5344CB8AC3E}">
        <p14:creationId xmlns:p14="http://schemas.microsoft.com/office/powerpoint/2010/main" val="613226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F1310-80C3-D7A9-2D02-7A5BA318B346}"/>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C8936098-A100-9C1C-461B-139A753AE52E}"/>
              </a:ext>
            </a:extLst>
          </p:cNvPr>
          <p:cNvSpPr/>
          <p:nvPr/>
        </p:nvSpPr>
        <p:spPr>
          <a:xfrm>
            <a:off x="699927" y="628848"/>
            <a:ext cx="10792146" cy="798116"/>
          </a:xfrm>
          <a:prstGeom prst="roundRect">
            <a:avLst>
              <a:gd name="adj" fmla="val 44919"/>
            </a:avLst>
          </a:prstGeom>
          <a:solidFill>
            <a:srgbClr val="4169E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Title 1">
            <a:extLst>
              <a:ext uri="{FF2B5EF4-FFF2-40B4-BE49-F238E27FC236}">
                <a16:creationId xmlns:a16="http://schemas.microsoft.com/office/drawing/2014/main" id="{AD59D3F6-C197-30E0-67A3-6978D92EFA0C}"/>
              </a:ext>
            </a:extLst>
          </p:cNvPr>
          <p:cNvSpPr>
            <a:spLocks noGrp="1"/>
          </p:cNvSpPr>
          <p:nvPr>
            <p:ph type="title"/>
          </p:nvPr>
        </p:nvSpPr>
        <p:spPr/>
        <p:txBody>
          <a:bodyPr/>
          <a:lstStyle/>
          <a:p>
            <a:r>
              <a:rPr lang="en-US" b="1" dirty="0">
                <a:solidFill>
                  <a:schemeClr val="bg1"/>
                </a:solidFill>
              </a:rPr>
              <a:t>Parametric CAD Generation</a:t>
            </a:r>
          </a:p>
        </p:txBody>
      </p:sp>
      <p:sp>
        <p:nvSpPr>
          <p:cNvPr id="4" name="Slide Number Placeholder 3">
            <a:extLst>
              <a:ext uri="{FF2B5EF4-FFF2-40B4-BE49-F238E27FC236}">
                <a16:creationId xmlns:a16="http://schemas.microsoft.com/office/drawing/2014/main" id="{B64BFA7A-F23B-DA05-F488-37DFD2AD039F}"/>
              </a:ext>
            </a:extLst>
          </p:cNvPr>
          <p:cNvSpPr>
            <a:spLocks noGrp="1"/>
          </p:cNvSpPr>
          <p:nvPr>
            <p:ph type="sldNum" sz="quarter" idx="12"/>
          </p:nvPr>
        </p:nvSpPr>
        <p:spPr/>
        <p:txBody>
          <a:bodyPr/>
          <a:lstStyle/>
          <a:p>
            <a:fld id="{780D6419-8A5C-4EF9-A2D6-5BBA12496091}" type="slidenum">
              <a:rPr lang="en-US" smtClean="0"/>
              <a:t>9</a:t>
            </a:fld>
            <a:endParaRPr lang="en-US"/>
          </a:p>
        </p:txBody>
      </p:sp>
      <p:pic>
        <p:nvPicPr>
          <p:cNvPr id="7" name="Picture 6" descr="A screenshot of a computer program&#10;&#10;AI-generated content may be incorrect.">
            <a:extLst>
              <a:ext uri="{FF2B5EF4-FFF2-40B4-BE49-F238E27FC236}">
                <a16:creationId xmlns:a16="http://schemas.microsoft.com/office/drawing/2014/main" id="{47629CF8-432B-88B1-F757-FE8D19A97935}"/>
              </a:ext>
            </a:extLst>
          </p:cNvPr>
          <p:cNvPicPr>
            <a:picLocks noChangeAspect="1"/>
          </p:cNvPicPr>
          <p:nvPr/>
        </p:nvPicPr>
        <p:blipFill>
          <a:blip r:embed="rId3">
            <a:extLst>
              <a:ext uri="{28A0092B-C50C-407E-A947-70E740481C1C}">
                <a14:useLocalDpi xmlns:a14="http://schemas.microsoft.com/office/drawing/2010/main" val="0"/>
              </a:ext>
            </a:extLst>
          </a:blip>
          <a:srcRect l="17027" t="18386" r="28703" b="11066"/>
          <a:stretch>
            <a:fillRect/>
          </a:stretch>
        </p:blipFill>
        <p:spPr>
          <a:xfrm>
            <a:off x="-3873500" y="2359475"/>
            <a:ext cx="3685674" cy="2693921"/>
          </a:xfrm>
          <a:prstGeom prst="rect">
            <a:avLst/>
          </a:prstGeom>
        </p:spPr>
      </p:pic>
      <p:pic>
        <p:nvPicPr>
          <p:cNvPr id="11" name="Picture 10" descr="A white gear with a blue and green dial&#10;&#10;AI-generated content may be incorrect.">
            <a:extLst>
              <a:ext uri="{FF2B5EF4-FFF2-40B4-BE49-F238E27FC236}">
                <a16:creationId xmlns:a16="http://schemas.microsoft.com/office/drawing/2014/main" id="{C9373C56-A8F2-8CF5-1DB8-5A893178641B}"/>
              </a:ext>
            </a:extLst>
          </p:cNvPr>
          <p:cNvPicPr>
            <a:picLocks noChangeAspect="1"/>
          </p:cNvPicPr>
          <p:nvPr/>
        </p:nvPicPr>
        <p:blipFill>
          <a:blip r:embed="rId4">
            <a:extLst>
              <a:ext uri="{28A0092B-C50C-407E-A947-70E740481C1C}">
                <a14:useLocalDpi xmlns:a14="http://schemas.microsoft.com/office/drawing/2010/main" val="0"/>
              </a:ext>
            </a:extLst>
          </a:blip>
          <a:srcRect l="16369" t="14326" r="15880" b="17209"/>
          <a:stretch>
            <a:fillRect/>
          </a:stretch>
        </p:blipFill>
        <p:spPr>
          <a:xfrm>
            <a:off x="699927" y="2654511"/>
            <a:ext cx="3889587" cy="2474291"/>
          </a:xfrm>
          <a:prstGeom prst="rect">
            <a:avLst/>
          </a:prstGeom>
        </p:spPr>
      </p:pic>
      <p:pic>
        <p:nvPicPr>
          <p:cNvPr id="13" name="Picture 12" descr="A close-up of a gear&#10;&#10;AI-generated content may be incorrect.">
            <a:extLst>
              <a:ext uri="{FF2B5EF4-FFF2-40B4-BE49-F238E27FC236}">
                <a16:creationId xmlns:a16="http://schemas.microsoft.com/office/drawing/2014/main" id="{769112B6-93AD-AEAF-D07D-E447958CA5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79902" y="2116593"/>
            <a:ext cx="5639661" cy="3550128"/>
          </a:xfrm>
          <a:prstGeom prst="rect">
            <a:avLst/>
          </a:prstGeom>
        </p:spPr>
      </p:pic>
      <p:sp>
        <p:nvSpPr>
          <p:cNvPr id="6" name="TextBox 5">
            <a:extLst>
              <a:ext uri="{FF2B5EF4-FFF2-40B4-BE49-F238E27FC236}">
                <a16:creationId xmlns:a16="http://schemas.microsoft.com/office/drawing/2014/main" id="{1622A4BA-C0AB-31EC-F3D4-D028C3F071F7}"/>
              </a:ext>
            </a:extLst>
          </p:cNvPr>
          <p:cNvSpPr txBox="1"/>
          <p:nvPr/>
        </p:nvSpPr>
        <p:spPr>
          <a:xfrm>
            <a:off x="-4709843" y="5596699"/>
            <a:ext cx="4709843" cy="369332"/>
          </a:xfrm>
          <a:prstGeom prst="rect">
            <a:avLst/>
          </a:prstGeom>
          <a:noFill/>
        </p:spPr>
        <p:txBody>
          <a:bodyPr wrap="square">
            <a:spAutoFit/>
          </a:bodyPr>
          <a:lstStyle/>
          <a:p>
            <a:r>
              <a:rPr lang="en-US" dirty="0"/>
              <a:t>Input Parameters based on index calculations</a:t>
            </a:r>
          </a:p>
        </p:txBody>
      </p:sp>
      <p:sp>
        <p:nvSpPr>
          <p:cNvPr id="8" name="TextBox 7">
            <a:extLst>
              <a:ext uri="{FF2B5EF4-FFF2-40B4-BE49-F238E27FC236}">
                <a16:creationId xmlns:a16="http://schemas.microsoft.com/office/drawing/2014/main" id="{8A567297-F15A-90A5-7B64-3136B4A81F61}"/>
              </a:ext>
            </a:extLst>
          </p:cNvPr>
          <p:cNvSpPr txBox="1"/>
          <p:nvPr/>
        </p:nvSpPr>
        <p:spPr>
          <a:xfrm>
            <a:off x="-4533062" y="7361493"/>
            <a:ext cx="5004798" cy="369332"/>
          </a:xfrm>
          <a:prstGeom prst="rect">
            <a:avLst/>
          </a:prstGeom>
          <a:noFill/>
        </p:spPr>
        <p:txBody>
          <a:bodyPr wrap="square">
            <a:spAutoFit/>
          </a:bodyPr>
          <a:lstStyle/>
          <a:p>
            <a:r>
              <a:rPr lang="en-US" dirty="0"/>
              <a:t>Generated Assembly with precise Involute Profile</a:t>
            </a:r>
          </a:p>
        </p:txBody>
      </p:sp>
      <p:pic>
        <p:nvPicPr>
          <p:cNvPr id="10" name="Picture 9" descr="A computer screen shot of a computer screen&#10;&#10;AI-generated content may be incorrect.">
            <a:extLst>
              <a:ext uri="{FF2B5EF4-FFF2-40B4-BE49-F238E27FC236}">
                <a16:creationId xmlns:a16="http://schemas.microsoft.com/office/drawing/2014/main" id="{6337A614-A4D4-3912-2C8B-0FA969EE3B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84369" y="6041027"/>
            <a:ext cx="2107412" cy="1184939"/>
          </a:xfrm>
          <a:prstGeom prst="rect">
            <a:avLst/>
          </a:prstGeom>
        </p:spPr>
      </p:pic>
      <p:cxnSp>
        <p:nvCxnSpPr>
          <p:cNvPr id="9" name="Straight Arrow Connector 8">
            <a:extLst>
              <a:ext uri="{FF2B5EF4-FFF2-40B4-BE49-F238E27FC236}">
                <a16:creationId xmlns:a16="http://schemas.microsoft.com/office/drawing/2014/main" id="{DA62B34A-A22E-B744-8ACC-870BC7685541}"/>
              </a:ext>
            </a:extLst>
          </p:cNvPr>
          <p:cNvCxnSpPr/>
          <p:nvPr/>
        </p:nvCxnSpPr>
        <p:spPr>
          <a:xfrm flipV="1">
            <a:off x="1358900" y="4152900"/>
            <a:ext cx="6832600" cy="29210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264652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152F7B9-E6D0-2A85-F003-2482A43E24EB}"/>
              </a:ext>
            </a:extLst>
          </p:cNvPr>
          <p:cNvSpPr/>
          <p:nvPr/>
        </p:nvSpPr>
        <p:spPr>
          <a:xfrm>
            <a:off x="699927" y="628848"/>
            <a:ext cx="10792146" cy="798116"/>
          </a:xfrm>
          <a:prstGeom prst="roundRect">
            <a:avLst>
              <a:gd name="adj" fmla="val 44919"/>
            </a:avLst>
          </a:prstGeom>
          <a:solidFill>
            <a:srgbClr val="4169E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Title 1">
            <a:extLst>
              <a:ext uri="{FF2B5EF4-FFF2-40B4-BE49-F238E27FC236}">
                <a16:creationId xmlns:a16="http://schemas.microsoft.com/office/drawing/2014/main" id="{3A9DA5F6-317A-4DEB-4F99-A8D0AA5B0EDB}"/>
              </a:ext>
            </a:extLst>
          </p:cNvPr>
          <p:cNvSpPr>
            <a:spLocks noGrp="1"/>
          </p:cNvSpPr>
          <p:nvPr>
            <p:ph type="title"/>
          </p:nvPr>
        </p:nvSpPr>
        <p:spPr/>
        <p:txBody>
          <a:bodyPr/>
          <a:lstStyle/>
          <a:p>
            <a:r>
              <a:rPr lang="en-US" dirty="0"/>
              <a:t>CAD to CAE Integration</a:t>
            </a:r>
          </a:p>
        </p:txBody>
      </p:sp>
      <p:pic>
        <p:nvPicPr>
          <p:cNvPr id="6" name="Content Placeholder 5" descr="A computer screen shot of a blue gear&#10;&#10;AI-generated content may be incorrect.">
            <a:extLst>
              <a:ext uri="{FF2B5EF4-FFF2-40B4-BE49-F238E27FC236}">
                <a16:creationId xmlns:a16="http://schemas.microsoft.com/office/drawing/2014/main" id="{AC110151-E2F3-0AD1-9E7D-B7D1769FF54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49832" y="3429000"/>
            <a:ext cx="5379796" cy="3024909"/>
          </a:xfrm>
        </p:spPr>
      </p:pic>
      <p:sp>
        <p:nvSpPr>
          <p:cNvPr id="4" name="Slide Number Placeholder 3">
            <a:extLst>
              <a:ext uri="{FF2B5EF4-FFF2-40B4-BE49-F238E27FC236}">
                <a16:creationId xmlns:a16="http://schemas.microsoft.com/office/drawing/2014/main" id="{1959280F-9EB5-E7E5-36A3-D9B35573E65E}"/>
              </a:ext>
            </a:extLst>
          </p:cNvPr>
          <p:cNvSpPr>
            <a:spLocks noGrp="1"/>
          </p:cNvSpPr>
          <p:nvPr>
            <p:ph type="sldNum" sz="quarter" idx="12"/>
          </p:nvPr>
        </p:nvSpPr>
        <p:spPr/>
        <p:txBody>
          <a:bodyPr/>
          <a:lstStyle/>
          <a:p>
            <a:fld id="{780D6419-8A5C-4EF9-A2D6-5BBA12496091}" type="slidenum">
              <a:rPr lang="en-US" smtClean="0"/>
              <a:t>10</a:t>
            </a:fld>
            <a:endParaRPr lang="en-US"/>
          </a:p>
        </p:txBody>
      </p:sp>
      <p:sp>
        <p:nvSpPr>
          <p:cNvPr id="5" name="Content Placeholder 2">
            <a:extLst>
              <a:ext uri="{FF2B5EF4-FFF2-40B4-BE49-F238E27FC236}">
                <a16:creationId xmlns:a16="http://schemas.microsoft.com/office/drawing/2014/main" id="{7B724EE4-9F92-B6A2-89AF-A08B0EAA821C}"/>
              </a:ext>
            </a:extLst>
          </p:cNvPr>
          <p:cNvSpPr txBox="1">
            <a:spLocks/>
          </p:cNvSpPr>
          <p:nvPr/>
        </p:nvSpPr>
        <p:spPr>
          <a:xfrm>
            <a:off x="838200" y="1954411"/>
            <a:ext cx="10515600" cy="1479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Import Format: STEP (.</a:t>
            </a:r>
            <a:r>
              <a:rPr lang="en-US" sz="2400" dirty="0" err="1"/>
              <a:t>stp</a:t>
            </a:r>
            <a:r>
              <a:rPr lang="en-US" sz="2400" dirty="0"/>
              <a:t>)</a:t>
            </a:r>
          </a:p>
          <a:p>
            <a:pPr marL="0" indent="0">
              <a:buNone/>
            </a:pPr>
            <a:r>
              <a:rPr lang="en-US" sz="2400" dirty="0"/>
              <a:t>Method: Direct Assembly Import (Maintained Solid Edge coordinates).</a:t>
            </a:r>
          </a:p>
          <a:p>
            <a:pPr marL="0" indent="0">
              <a:buNone/>
            </a:pPr>
            <a:r>
              <a:rPr lang="en-US" sz="2400" dirty="0"/>
              <a:t>Advantage: Eliminates manual positioning errors in FEA environment.</a:t>
            </a:r>
          </a:p>
        </p:txBody>
      </p:sp>
      <p:sp>
        <p:nvSpPr>
          <p:cNvPr id="10" name="TextBox 9">
            <a:extLst>
              <a:ext uri="{FF2B5EF4-FFF2-40B4-BE49-F238E27FC236}">
                <a16:creationId xmlns:a16="http://schemas.microsoft.com/office/drawing/2014/main" id="{5FC8AA62-8259-47BF-AE72-9B429928CDEF}"/>
              </a:ext>
            </a:extLst>
          </p:cNvPr>
          <p:cNvSpPr txBox="1"/>
          <p:nvPr/>
        </p:nvSpPr>
        <p:spPr>
          <a:xfrm>
            <a:off x="5720136" y="6453909"/>
            <a:ext cx="6097712" cy="369332"/>
          </a:xfrm>
          <a:prstGeom prst="rect">
            <a:avLst/>
          </a:prstGeom>
          <a:noFill/>
        </p:spPr>
        <p:txBody>
          <a:bodyPr wrap="square">
            <a:spAutoFit/>
          </a:bodyPr>
          <a:lstStyle/>
          <a:p>
            <a:r>
              <a:rPr lang="en-US" dirty="0"/>
              <a:t>Imported Assembly Abaqus</a:t>
            </a:r>
          </a:p>
        </p:txBody>
      </p:sp>
    </p:spTree>
    <p:extLst>
      <p:ext uri="{BB962C8B-B14F-4D97-AF65-F5344CB8AC3E}">
        <p14:creationId xmlns:p14="http://schemas.microsoft.com/office/powerpoint/2010/main" val="2877357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58A242-F49E-336C-EBF8-31DBB7A0A790}"/>
              </a:ext>
            </a:extLst>
          </p:cNvPr>
          <p:cNvSpPr/>
          <p:nvPr/>
        </p:nvSpPr>
        <p:spPr>
          <a:xfrm>
            <a:off x="699927" y="628848"/>
            <a:ext cx="10792146" cy="798116"/>
          </a:xfrm>
          <a:prstGeom prst="roundRect">
            <a:avLst>
              <a:gd name="adj" fmla="val 44919"/>
            </a:avLst>
          </a:prstGeom>
          <a:solidFill>
            <a:srgbClr val="4169E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Title 1">
            <a:extLst>
              <a:ext uri="{FF2B5EF4-FFF2-40B4-BE49-F238E27FC236}">
                <a16:creationId xmlns:a16="http://schemas.microsoft.com/office/drawing/2014/main" id="{DBDC149E-32DD-255D-DFDF-CA1B82C8D87E}"/>
              </a:ext>
            </a:extLst>
          </p:cNvPr>
          <p:cNvSpPr>
            <a:spLocks noGrp="1"/>
          </p:cNvSpPr>
          <p:nvPr>
            <p:ph type="title"/>
          </p:nvPr>
        </p:nvSpPr>
        <p:spPr/>
        <p:txBody>
          <a:bodyPr/>
          <a:lstStyle/>
          <a:p>
            <a:r>
              <a:rPr lang="en-US" dirty="0"/>
              <a:t>Material Definition</a:t>
            </a:r>
          </a:p>
        </p:txBody>
      </p:sp>
      <p:sp>
        <p:nvSpPr>
          <p:cNvPr id="4" name="Slide Number Placeholder 3">
            <a:extLst>
              <a:ext uri="{FF2B5EF4-FFF2-40B4-BE49-F238E27FC236}">
                <a16:creationId xmlns:a16="http://schemas.microsoft.com/office/drawing/2014/main" id="{1CD94A05-2B1F-F883-0AB7-D1235C68D3F9}"/>
              </a:ext>
            </a:extLst>
          </p:cNvPr>
          <p:cNvSpPr>
            <a:spLocks noGrp="1"/>
          </p:cNvSpPr>
          <p:nvPr>
            <p:ph type="sldNum" sz="quarter" idx="12"/>
          </p:nvPr>
        </p:nvSpPr>
        <p:spPr/>
        <p:txBody>
          <a:bodyPr/>
          <a:lstStyle/>
          <a:p>
            <a:fld id="{780D6419-8A5C-4EF9-A2D6-5BBA12496091}" type="slidenum">
              <a:rPr lang="en-US" smtClean="0"/>
              <a:t>11</a:t>
            </a:fld>
            <a:endParaRPr lang="en-US"/>
          </a:p>
        </p:txBody>
      </p:sp>
      <p:sp>
        <p:nvSpPr>
          <p:cNvPr id="6" name="TextBox 5">
            <a:extLst>
              <a:ext uri="{FF2B5EF4-FFF2-40B4-BE49-F238E27FC236}">
                <a16:creationId xmlns:a16="http://schemas.microsoft.com/office/drawing/2014/main" id="{98AA3084-0E51-4C7D-CE63-0539175A27D7}"/>
              </a:ext>
            </a:extLst>
          </p:cNvPr>
          <p:cNvSpPr txBox="1"/>
          <p:nvPr/>
        </p:nvSpPr>
        <p:spPr>
          <a:xfrm>
            <a:off x="2489691" y="4574759"/>
            <a:ext cx="6968448" cy="369332"/>
          </a:xfrm>
          <a:prstGeom prst="rect">
            <a:avLst/>
          </a:prstGeom>
          <a:noFill/>
        </p:spPr>
        <p:txBody>
          <a:bodyPr wrap="square">
            <a:spAutoFit/>
          </a:bodyPr>
          <a:lstStyle/>
          <a:p>
            <a:r>
              <a:rPr lang="en-US" dirty="0"/>
              <a:t>Non-linear Material definition with Plasticity data for Stainless Steel</a:t>
            </a:r>
          </a:p>
        </p:txBody>
      </p:sp>
      <p:pic>
        <p:nvPicPr>
          <p:cNvPr id="10" name="Picture 9" descr="A screenshot of a computer&#10;&#10;AI-generated content may be incorrect.">
            <a:extLst>
              <a:ext uri="{FF2B5EF4-FFF2-40B4-BE49-F238E27FC236}">
                <a16:creationId xmlns:a16="http://schemas.microsoft.com/office/drawing/2014/main" id="{A37EF1CC-C3D8-02A7-7C30-B2787DAA01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3915" y="1666385"/>
            <a:ext cx="4983044" cy="2801826"/>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F13C27BD-1ACC-D03C-1439-2B957D6767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3259" y="1718178"/>
            <a:ext cx="4890929" cy="2750033"/>
          </a:xfrm>
          <a:prstGeom prst="rect">
            <a:avLst/>
          </a:prstGeom>
        </p:spPr>
      </p:pic>
      <p:sp>
        <p:nvSpPr>
          <p:cNvPr id="7" name="Content Placeholder 2">
            <a:extLst>
              <a:ext uri="{FF2B5EF4-FFF2-40B4-BE49-F238E27FC236}">
                <a16:creationId xmlns:a16="http://schemas.microsoft.com/office/drawing/2014/main" id="{2893149E-D5B7-F0E6-D3D0-D3FAA2BF2A42}"/>
              </a:ext>
            </a:extLst>
          </p:cNvPr>
          <p:cNvSpPr txBox="1">
            <a:spLocks/>
          </p:cNvSpPr>
          <p:nvPr/>
        </p:nvSpPr>
        <p:spPr>
          <a:xfrm>
            <a:off x="976473" y="5140560"/>
            <a:ext cx="10515600" cy="1479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Material: Stainless Steel</a:t>
            </a:r>
          </a:p>
          <a:p>
            <a:pPr marL="0" indent="0">
              <a:buNone/>
            </a:pPr>
            <a:r>
              <a:rPr lang="en-US" sz="2400" dirty="0"/>
              <a:t>Behavior: Elastoplastic</a:t>
            </a:r>
          </a:p>
          <a:p>
            <a:pPr marL="0" indent="0">
              <a:buNone/>
            </a:pPr>
            <a:r>
              <a:rPr lang="en-US" sz="2400" dirty="0"/>
              <a:t>Yield Criterion: Von Mises (Isotropic Hardening).</a:t>
            </a:r>
          </a:p>
        </p:txBody>
      </p:sp>
    </p:spTree>
    <p:extLst>
      <p:ext uri="{BB962C8B-B14F-4D97-AF65-F5344CB8AC3E}">
        <p14:creationId xmlns:p14="http://schemas.microsoft.com/office/powerpoint/2010/main" val="2855632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E09FFC5-281B-8874-EB49-4FAEF9EF4175}"/>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rgbClr val="FFFFFF"/>
                </a:solidFill>
                <a:latin typeface="Aptos Display" panose="020B0004020202020204" pitchFamily="34" charset="0"/>
              </a:rPr>
              <a:t>Material Assignment: Homogeneous Solid Sections</a:t>
            </a:r>
          </a:p>
        </p:txBody>
      </p:sp>
      <p:sp>
        <p:nvSpPr>
          <p:cNvPr id="2" name="Title 1">
            <a:extLst>
              <a:ext uri="{FF2B5EF4-FFF2-40B4-BE49-F238E27FC236}">
                <a16:creationId xmlns:a16="http://schemas.microsoft.com/office/drawing/2014/main" id="{F5133999-B9C5-7F86-4555-658AADD856FD}"/>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FCFE8C06-4FDA-4CE8-269F-E4A053A8E4BA}"/>
              </a:ext>
            </a:extLst>
          </p:cNvPr>
          <p:cNvSpPr>
            <a:spLocks noGrp="1"/>
          </p:cNvSpPr>
          <p:nvPr>
            <p:ph type="sldNum" sz="quarter" idx="12"/>
          </p:nvPr>
        </p:nvSpPr>
        <p:spPr/>
        <p:txBody>
          <a:bodyPr/>
          <a:lstStyle/>
          <a:p>
            <a:fld id="{780D6419-8A5C-4EF9-A2D6-5BBA12496091}" type="slidenum">
              <a:rPr lang="en-US" smtClean="0"/>
              <a:t>12</a:t>
            </a:fld>
            <a:endParaRPr lang="en-US"/>
          </a:p>
        </p:txBody>
      </p:sp>
      <p:pic>
        <p:nvPicPr>
          <p:cNvPr id="6" name="Picture 5" descr="A computer screen shot of a gear&#10;&#10;AI-generated content may be incorrect.">
            <a:extLst>
              <a:ext uri="{FF2B5EF4-FFF2-40B4-BE49-F238E27FC236}">
                <a16:creationId xmlns:a16="http://schemas.microsoft.com/office/drawing/2014/main" id="{B72BCF6F-13D4-A28B-E9C7-C6E1131D2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978" y="2065106"/>
            <a:ext cx="5223007" cy="2936751"/>
          </a:xfrm>
          <a:prstGeom prst="rect">
            <a:avLst/>
          </a:prstGeom>
        </p:spPr>
      </p:pic>
      <p:pic>
        <p:nvPicPr>
          <p:cNvPr id="8" name="Picture 7" descr="A computer screen shot of a blue circular object&#10;&#10;AI-generated content may be incorrect.">
            <a:extLst>
              <a:ext uri="{FF2B5EF4-FFF2-40B4-BE49-F238E27FC236}">
                <a16:creationId xmlns:a16="http://schemas.microsoft.com/office/drawing/2014/main" id="{D1887999-5282-C1C2-DA4C-D8DDF81374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1016" y="1930521"/>
            <a:ext cx="4959735" cy="2788720"/>
          </a:xfrm>
          <a:prstGeom prst="rect">
            <a:avLst/>
          </a:prstGeom>
        </p:spPr>
      </p:pic>
      <p:sp>
        <p:nvSpPr>
          <p:cNvPr id="10" name="TextBox 9">
            <a:extLst>
              <a:ext uri="{FF2B5EF4-FFF2-40B4-BE49-F238E27FC236}">
                <a16:creationId xmlns:a16="http://schemas.microsoft.com/office/drawing/2014/main" id="{A98265BF-2EFB-F299-5C85-F56417438A21}"/>
              </a:ext>
            </a:extLst>
          </p:cNvPr>
          <p:cNvSpPr txBox="1"/>
          <p:nvPr/>
        </p:nvSpPr>
        <p:spPr>
          <a:xfrm>
            <a:off x="4487238" y="5476394"/>
            <a:ext cx="6097712" cy="369332"/>
          </a:xfrm>
          <a:prstGeom prst="rect">
            <a:avLst/>
          </a:prstGeom>
          <a:noFill/>
        </p:spPr>
        <p:txBody>
          <a:bodyPr wrap="square">
            <a:spAutoFit/>
          </a:bodyPr>
          <a:lstStyle/>
          <a:p>
            <a:r>
              <a:rPr lang="en-US" dirty="0"/>
              <a:t>Material Assignment successful</a:t>
            </a:r>
          </a:p>
        </p:txBody>
      </p:sp>
    </p:spTree>
    <p:extLst>
      <p:ext uri="{BB962C8B-B14F-4D97-AF65-F5344CB8AC3E}">
        <p14:creationId xmlns:p14="http://schemas.microsoft.com/office/powerpoint/2010/main" val="1676045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4EF05EE-0BD6-AF2F-2D2D-1666B0BE0672}"/>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rgbClr val="FFFFFF"/>
                </a:solidFill>
                <a:latin typeface="Aptos Display" panose="020B0004020202020204" pitchFamily="34" charset="0"/>
              </a:rPr>
              <a:t>Step Definition: Non-linear Static General Analysis</a:t>
            </a:r>
          </a:p>
        </p:txBody>
      </p:sp>
      <p:sp>
        <p:nvSpPr>
          <p:cNvPr id="4" name="Slide Number Placeholder 3">
            <a:extLst>
              <a:ext uri="{FF2B5EF4-FFF2-40B4-BE49-F238E27FC236}">
                <a16:creationId xmlns:a16="http://schemas.microsoft.com/office/drawing/2014/main" id="{23D94B9E-EB03-C190-A3C5-4F19F2D9A6E3}"/>
              </a:ext>
            </a:extLst>
          </p:cNvPr>
          <p:cNvSpPr>
            <a:spLocks noGrp="1"/>
          </p:cNvSpPr>
          <p:nvPr>
            <p:ph type="sldNum" sz="quarter" idx="12"/>
          </p:nvPr>
        </p:nvSpPr>
        <p:spPr/>
        <p:txBody>
          <a:bodyPr/>
          <a:lstStyle/>
          <a:p>
            <a:fld id="{780D6419-8A5C-4EF9-A2D6-5BBA12496091}" type="slidenum">
              <a:rPr lang="en-US" smtClean="0"/>
              <a:t>13</a:t>
            </a:fld>
            <a:endParaRPr lang="en-US"/>
          </a:p>
        </p:txBody>
      </p:sp>
      <p:sp>
        <p:nvSpPr>
          <p:cNvPr id="6" name="TextBox 5">
            <a:extLst>
              <a:ext uri="{FF2B5EF4-FFF2-40B4-BE49-F238E27FC236}">
                <a16:creationId xmlns:a16="http://schemas.microsoft.com/office/drawing/2014/main" id="{5CBBA330-E74B-52AC-CE2C-5D7F7C19B59B}"/>
              </a:ext>
            </a:extLst>
          </p:cNvPr>
          <p:cNvSpPr txBox="1"/>
          <p:nvPr/>
        </p:nvSpPr>
        <p:spPr>
          <a:xfrm>
            <a:off x="2956389" y="5846544"/>
            <a:ext cx="6097712" cy="646331"/>
          </a:xfrm>
          <a:prstGeom prst="rect">
            <a:avLst/>
          </a:prstGeom>
          <a:noFill/>
        </p:spPr>
        <p:txBody>
          <a:bodyPr wrap="square">
            <a:spAutoFit/>
          </a:bodyPr>
          <a:lstStyle/>
          <a:p>
            <a:r>
              <a:rPr lang="en-US" dirty="0"/>
              <a:t>Enabling Non-linear Geometry (</a:t>
            </a:r>
            <a:r>
              <a:rPr lang="en-US" dirty="0" err="1"/>
              <a:t>Nlgeom</a:t>
            </a:r>
            <a:r>
              <a:rPr lang="en-US" dirty="0"/>
              <a:t>) to account for large displacements and contact</a:t>
            </a:r>
          </a:p>
        </p:txBody>
      </p:sp>
      <p:pic>
        <p:nvPicPr>
          <p:cNvPr id="8" name="Picture 7" descr="A screenshot of a computer&#10;&#10;AI-generated content may be incorrect.">
            <a:extLst>
              <a:ext uri="{FF2B5EF4-FFF2-40B4-BE49-F238E27FC236}">
                <a16:creationId xmlns:a16="http://schemas.microsoft.com/office/drawing/2014/main" id="{C67D4CA6-A651-59DD-6552-DD3F5B5598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7290" y="1939173"/>
            <a:ext cx="6495909" cy="3652468"/>
          </a:xfrm>
          <a:prstGeom prst="rect">
            <a:avLst/>
          </a:prstGeom>
        </p:spPr>
      </p:pic>
    </p:spTree>
    <p:extLst>
      <p:ext uri="{BB962C8B-B14F-4D97-AF65-F5344CB8AC3E}">
        <p14:creationId xmlns:p14="http://schemas.microsoft.com/office/powerpoint/2010/main" val="2988087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BA0A7-07B3-CE84-B1F8-726A9EEE9DF3}"/>
              </a:ext>
            </a:extLst>
          </p:cNvPr>
          <p:cNvSpPr>
            <a:spLocks noGrp="1"/>
          </p:cNvSpPr>
          <p:nvPr>
            <p:ph type="sldNum" sz="quarter" idx="12"/>
          </p:nvPr>
        </p:nvSpPr>
        <p:spPr/>
        <p:txBody>
          <a:bodyPr/>
          <a:lstStyle/>
          <a:p>
            <a:fld id="{780D6419-8A5C-4EF9-A2D6-5BBA12496091}" type="slidenum">
              <a:rPr lang="en-US" smtClean="0"/>
              <a:t>14</a:t>
            </a:fld>
            <a:endParaRPr lang="en-US"/>
          </a:p>
        </p:txBody>
      </p:sp>
      <p:sp>
        <p:nvSpPr>
          <p:cNvPr id="3" name="Rectangle: Rounded Corners 2">
            <a:extLst>
              <a:ext uri="{FF2B5EF4-FFF2-40B4-BE49-F238E27FC236}">
                <a16:creationId xmlns:a16="http://schemas.microsoft.com/office/drawing/2014/main" id="{DC8B1B5D-5DC8-92FB-4637-CC2EB40CD232}"/>
              </a:ext>
            </a:extLst>
          </p:cNvPr>
          <p:cNvSpPr/>
          <p:nvPr/>
        </p:nvSpPr>
        <p:spPr>
          <a:xfrm>
            <a:off x="699770" y="136525"/>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dirty="0">
                <a:solidFill>
                  <a:srgbClr val="FFFFFF"/>
                </a:solidFill>
                <a:latin typeface="Aptos Display" panose="020B0004020202020204" pitchFamily="34" charset="0"/>
              </a:rPr>
              <a:t>Step Configuration: Field &amp; History Output Requests</a:t>
            </a:r>
          </a:p>
        </p:txBody>
      </p:sp>
      <p:pic>
        <p:nvPicPr>
          <p:cNvPr id="5" name="Picture 4">
            <a:extLst>
              <a:ext uri="{FF2B5EF4-FFF2-40B4-BE49-F238E27FC236}">
                <a16:creationId xmlns:a16="http://schemas.microsoft.com/office/drawing/2014/main" id="{05E93A27-1F4B-2C0C-FE2B-8F60D81F5BE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98500" y="944714"/>
            <a:ext cx="5207000" cy="2921000"/>
          </a:xfrm>
          <a:prstGeom prst="rect">
            <a:avLst/>
          </a:prstGeom>
        </p:spPr>
      </p:pic>
      <p:pic>
        <p:nvPicPr>
          <p:cNvPr id="7" name="Picture 6">
            <a:extLst>
              <a:ext uri="{FF2B5EF4-FFF2-40B4-BE49-F238E27FC236}">
                <a16:creationId xmlns:a16="http://schemas.microsoft.com/office/drawing/2014/main" id="{E5F742CA-77B1-4505-1503-1858006010C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286500" y="939802"/>
            <a:ext cx="5207000" cy="2921000"/>
          </a:xfrm>
          <a:prstGeom prst="rect">
            <a:avLst/>
          </a:prstGeom>
        </p:spPr>
      </p:pic>
      <p:sp>
        <p:nvSpPr>
          <p:cNvPr id="8" name="Rectangle: Rounded Corners 7">
            <a:extLst>
              <a:ext uri="{FF2B5EF4-FFF2-40B4-BE49-F238E27FC236}">
                <a16:creationId xmlns:a16="http://schemas.microsoft.com/office/drawing/2014/main" id="{0F16655D-F64C-3F42-CDA3-9FA62A030498}"/>
              </a:ext>
            </a:extLst>
          </p:cNvPr>
          <p:cNvSpPr/>
          <p:nvPr/>
        </p:nvSpPr>
        <p:spPr>
          <a:xfrm>
            <a:off x="698500" y="4100051"/>
            <a:ext cx="5207000" cy="2434610"/>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b="1" dirty="0">
                <a:solidFill>
                  <a:srgbClr val="143CA0"/>
                </a:solidFill>
                <a:latin typeface="Aptos" panose="020B0004020202020204" pitchFamily="34" charset="0"/>
              </a:rPr>
              <a:t>Field Output Requests (F-Output-1)</a:t>
            </a:r>
            <a:endParaRPr lang="en-US" sz="1600" b="1" dirty="0">
              <a:solidFill>
                <a:srgbClr val="143CA0"/>
              </a:solidFill>
              <a:latin typeface="Aptos" panose="020B0004020202020204" pitchFamily="34" charset="0"/>
            </a:endParaRP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Domain: Whole Model (Preselected Defaults + Contact Variables)
Output Variables: Stress components (S, Mises, Max Principal), Strain (E, PEEQ), Displacement (U)
Contact Variables: CSTRESS (Contact Pressure) and CDISP (Slip)
Frequency: Output saved at every converged increment across step time (0 to 1.0)</a:t>
            </a:r>
          </a:p>
        </p:txBody>
      </p:sp>
      <p:sp>
        <p:nvSpPr>
          <p:cNvPr id="9" name="Rectangle: Rounded Corners 8">
            <a:extLst>
              <a:ext uri="{FF2B5EF4-FFF2-40B4-BE49-F238E27FC236}">
                <a16:creationId xmlns:a16="http://schemas.microsoft.com/office/drawing/2014/main" id="{2B971A5D-D33B-0809-AE06-9B4BB6B867FA}"/>
              </a:ext>
            </a:extLst>
          </p:cNvPr>
          <p:cNvSpPr/>
          <p:nvPr/>
        </p:nvSpPr>
        <p:spPr>
          <a:xfrm>
            <a:off x="6285230" y="4091858"/>
            <a:ext cx="5207000" cy="2306791"/>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b="1" dirty="0">
                <a:solidFill>
                  <a:srgbClr val="143CA0"/>
                </a:solidFill>
                <a:latin typeface="Aptos" panose="020B0004020202020204" pitchFamily="34" charset="0"/>
              </a:rPr>
              <a:t>History Output Requests (H-Output-1)</a:t>
            </a:r>
            <a:endParaRPr lang="en-US" sz="1600" b="1" dirty="0">
              <a:solidFill>
                <a:srgbClr val="143CA0"/>
              </a:solidFill>
              <a:latin typeface="Aptos" panose="020B0004020202020204" pitchFamily="34" charset="0"/>
            </a:endParaRP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Domain: Whole Model and Bore Reference Points
Energy Balance: Internal energy (ALLIE), kinetic energy (ALLKE), plastic dissipation (ALLPD)
Kinetic Energy Verification: ALLKE &lt; 1% ALLIE confirming quasi-static equilibrium
Reaction Quantities: Reaction force (RF) and torque moment (RM) at fixed pinion reference point</a:t>
            </a:r>
          </a:p>
        </p:txBody>
      </p:sp>
    </p:spTree>
    <p:extLst>
      <p:ext uri="{BB962C8B-B14F-4D97-AF65-F5344CB8AC3E}">
        <p14:creationId xmlns:p14="http://schemas.microsoft.com/office/powerpoint/2010/main" val="2632948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178A78-2F0A-3F94-873F-CF8D98441FC9}"/>
              </a:ext>
            </a:extLst>
          </p:cNvPr>
          <p:cNvSpPr>
            <a:spLocks noGrp="1"/>
          </p:cNvSpPr>
          <p:nvPr>
            <p:ph type="sldNum" sz="quarter" idx="12"/>
          </p:nvPr>
        </p:nvSpPr>
        <p:spPr/>
        <p:txBody>
          <a:bodyPr/>
          <a:lstStyle/>
          <a:p>
            <a:fld id="{780D6419-8A5C-4EF9-A2D6-5BBA12496091}" type="slidenum">
              <a:rPr lang="en-US" smtClean="0"/>
              <a:t>15</a:t>
            </a:fld>
            <a:endParaRPr lang="en-US"/>
          </a:p>
        </p:txBody>
      </p:sp>
      <p:sp>
        <p:nvSpPr>
          <p:cNvPr id="3" name="Rectangle: Rounded Corners 2">
            <a:extLst>
              <a:ext uri="{FF2B5EF4-FFF2-40B4-BE49-F238E27FC236}">
                <a16:creationId xmlns:a16="http://schemas.microsoft.com/office/drawing/2014/main" id="{A1E4E46D-44DB-E173-C78F-F3E46EAB4CD4}"/>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Contact Interaction: General Contact Formulation</a:t>
            </a:r>
          </a:p>
        </p:txBody>
      </p:sp>
      <p:sp>
        <p:nvSpPr>
          <p:cNvPr id="4" name="Rectangle: Rounded Corners 3">
            <a:extLst>
              <a:ext uri="{FF2B5EF4-FFF2-40B4-BE49-F238E27FC236}">
                <a16:creationId xmlns:a16="http://schemas.microsoft.com/office/drawing/2014/main" id="{9832075A-BDEF-A2BF-862C-894B048652AE}"/>
              </a:ext>
            </a:extLst>
          </p:cNvPr>
          <p:cNvSpPr/>
          <p:nvPr/>
        </p:nvSpPr>
        <p:spPr>
          <a:xfrm>
            <a:off x="698500" y="1244600"/>
            <a:ext cx="4064000" cy="5016500"/>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General Contact (Standard) Architecture</a:t>
            </a:r>
            <a:endParaRPr lang="en-US" sz="1300" b="1" dirty="0">
              <a:solidFill>
                <a:srgbClr val="143CA0"/>
              </a:solidFill>
              <a:latin typeface="Aptos" panose="020B0004020202020204" pitchFamily="34" charset="0"/>
            </a:endParaRP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Formulation Type: General contact (Standard) active across </a:t>
            </a:r>
            <a:r>
              <a:rPr lang="en-US" sz="1300" b="1" dirty="0" err="1">
                <a:solidFill>
                  <a:schemeClr val="tx1"/>
                </a:solidFill>
                <a:latin typeface="Aptos" panose="020B0004020202020204" pitchFamily="34" charset="0"/>
              </a:rPr>
              <a:t>Torque_Step</a:t>
            </a:r>
            <a:r>
              <a:rPr lang="en-US" sz="1300" b="1" dirty="0">
                <a:solidFill>
                  <a:schemeClr val="tx1"/>
                </a:solidFill>
                <a:latin typeface="Aptos" panose="020B0004020202020204" pitchFamily="34" charset="0"/>
              </a:rPr>
              <a:t>
Contact Domain: 'All* with exterior' automatically selected
Robust Surface Tracking: Eliminates manual master-slave pair definition, preventing surface inversion errors
Dynamic Feature Tracking: Automatically captures newly engaged tooth pairs as gears rotate under torque load
Self-Contact Capability: Handles multi-tooth engagement and contact boundary evolution automatically
Penalty Constraint Enforcement: Enables smooth numerical convergence with finite contact stiffness</a:t>
            </a:r>
          </a:p>
        </p:txBody>
      </p:sp>
      <p:pic>
        <p:nvPicPr>
          <p:cNvPr id="6" name="Picture 5">
            <a:extLst>
              <a:ext uri="{FF2B5EF4-FFF2-40B4-BE49-F238E27FC236}">
                <a16:creationId xmlns:a16="http://schemas.microsoft.com/office/drawing/2014/main" id="{FE43E5AD-7925-56E3-F98C-64FAABAA229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953000" y="1244600"/>
            <a:ext cx="6540500" cy="5016500"/>
          </a:xfrm>
          <a:prstGeom prst="rect">
            <a:avLst/>
          </a:prstGeom>
        </p:spPr>
      </p:pic>
    </p:spTree>
    <p:extLst>
      <p:ext uri="{BB962C8B-B14F-4D97-AF65-F5344CB8AC3E}">
        <p14:creationId xmlns:p14="http://schemas.microsoft.com/office/powerpoint/2010/main" val="2285121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727BD0-62DE-A2A3-3BC0-4EE2238B90A2}"/>
              </a:ext>
            </a:extLst>
          </p:cNvPr>
          <p:cNvSpPr>
            <a:spLocks noGrp="1"/>
          </p:cNvSpPr>
          <p:nvPr>
            <p:ph type="sldNum" sz="quarter" idx="12"/>
          </p:nvPr>
        </p:nvSpPr>
        <p:spPr/>
        <p:txBody>
          <a:bodyPr/>
          <a:lstStyle/>
          <a:p>
            <a:fld id="{780D6419-8A5C-4EF9-A2D6-5BBA12496091}" type="slidenum">
              <a:rPr lang="en-US" smtClean="0"/>
              <a:t>16</a:t>
            </a:fld>
            <a:endParaRPr lang="en-US"/>
          </a:p>
        </p:txBody>
      </p:sp>
      <p:sp>
        <p:nvSpPr>
          <p:cNvPr id="3" name="Rectangle: Rounded Corners 2">
            <a:extLst>
              <a:ext uri="{FF2B5EF4-FFF2-40B4-BE49-F238E27FC236}">
                <a16:creationId xmlns:a16="http://schemas.microsoft.com/office/drawing/2014/main" id="{3363299D-8647-6DDF-4194-676A783E3F77}"/>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Contact Properties: Tangential &amp; Normal Behavior</a:t>
            </a:r>
          </a:p>
        </p:txBody>
      </p:sp>
      <p:pic>
        <p:nvPicPr>
          <p:cNvPr id="5" name="Picture 4">
            <a:extLst>
              <a:ext uri="{FF2B5EF4-FFF2-40B4-BE49-F238E27FC236}">
                <a16:creationId xmlns:a16="http://schemas.microsoft.com/office/drawing/2014/main" id="{570A98CA-51DD-E403-155D-168662A810B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98500" y="1244600"/>
            <a:ext cx="5207000" cy="2921000"/>
          </a:xfrm>
          <a:prstGeom prst="rect">
            <a:avLst/>
          </a:prstGeom>
        </p:spPr>
      </p:pic>
      <p:pic>
        <p:nvPicPr>
          <p:cNvPr id="7" name="Picture 6">
            <a:extLst>
              <a:ext uri="{FF2B5EF4-FFF2-40B4-BE49-F238E27FC236}">
                <a16:creationId xmlns:a16="http://schemas.microsoft.com/office/drawing/2014/main" id="{429819F1-3BA7-7458-73C7-13B292771D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286500" y="1244600"/>
            <a:ext cx="5207000" cy="2921000"/>
          </a:xfrm>
          <a:prstGeom prst="rect">
            <a:avLst/>
          </a:prstGeom>
        </p:spPr>
      </p:pic>
      <p:sp>
        <p:nvSpPr>
          <p:cNvPr id="8" name="Rectangle: Rounded Corners 7">
            <a:extLst>
              <a:ext uri="{FF2B5EF4-FFF2-40B4-BE49-F238E27FC236}">
                <a16:creationId xmlns:a16="http://schemas.microsoft.com/office/drawing/2014/main" id="{B0EBE250-EB86-C2BC-1D4E-F868A5676D4C}"/>
              </a:ext>
            </a:extLst>
          </p:cNvPr>
          <p:cNvSpPr/>
          <p:nvPr/>
        </p:nvSpPr>
        <p:spPr>
          <a:xfrm>
            <a:off x="698500" y="4322096"/>
            <a:ext cx="5207000" cy="2032000"/>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Tangential Behavior: Penalty Friction</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Friction Formulation: Penalty Method (robust for non-linear solver)
Friction Coefficient (</a:t>
            </a:r>
            <a:r>
              <a:rPr lang="el-GR" sz="1300" b="1" dirty="0">
                <a:solidFill>
                  <a:schemeClr val="tx1"/>
                </a:solidFill>
                <a:latin typeface="Aptos" panose="020B0004020202020204" pitchFamily="34" charset="0"/>
              </a:rPr>
              <a:t>μ): 0.15 (</a:t>
            </a:r>
            <a:r>
              <a:rPr lang="en-US" sz="1300" b="1" dirty="0">
                <a:solidFill>
                  <a:schemeClr val="tx1"/>
                </a:solidFill>
                <a:latin typeface="Aptos" panose="020B0004020202020204" pitchFamily="34" charset="0"/>
              </a:rPr>
              <a:t>Standard lubricated industrial steel gear mesh)
Directionality: Isotropic slip behavior along tooth flanks
Elastic Slip Tolerance: Abaqus default relative permissible displacement before sliding</a:t>
            </a:r>
          </a:p>
        </p:txBody>
      </p:sp>
      <p:sp>
        <p:nvSpPr>
          <p:cNvPr id="9" name="Rectangle: Rounded Corners 8">
            <a:extLst>
              <a:ext uri="{FF2B5EF4-FFF2-40B4-BE49-F238E27FC236}">
                <a16:creationId xmlns:a16="http://schemas.microsoft.com/office/drawing/2014/main" id="{A76CABC3-F075-CCBF-BF22-220FDCA37036}"/>
              </a:ext>
            </a:extLst>
          </p:cNvPr>
          <p:cNvSpPr/>
          <p:nvPr/>
        </p:nvSpPr>
        <p:spPr>
          <a:xfrm>
            <a:off x="6286500" y="4322096"/>
            <a:ext cx="5207000" cy="2032000"/>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Normal Behavior: Hard Contact Pressure</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Pressure-Overclosure: 'Hard' Contact model
Constraint Enforcement: Default penalty-based multiplier
Penetration Resistance: Transmits unlimited compressive stress when contact is closed
Allow Separation: True (teeth cleanly separate when out of mesh without artificial tensile adhesion)</a:t>
            </a:r>
          </a:p>
        </p:txBody>
      </p:sp>
    </p:spTree>
    <p:extLst>
      <p:ext uri="{BB962C8B-B14F-4D97-AF65-F5344CB8AC3E}">
        <p14:creationId xmlns:p14="http://schemas.microsoft.com/office/powerpoint/2010/main" val="3834766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84AAF4-7E4F-5BC7-C29D-DC48603E679D}"/>
              </a:ext>
            </a:extLst>
          </p:cNvPr>
          <p:cNvSpPr>
            <a:spLocks noGrp="1"/>
          </p:cNvSpPr>
          <p:nvPr>
            <p:ph type="sldNum" sz="quarter" idx="12"/>
          </p:nvPr>
        </p:nvSpPr>
        <p:spPr/>
        <p:txBody>
          <a:bodyPr/>
          <a:lstStyle/>
          <a:p>
            <a:fld id="{780D6419-8A5C-4EF9-A2D6-5BBA12496091}" type="slidenum">
              <a:rPr lang="en-US" smtClean="0"/>
              <a:t>17</a:t>
            </a:fld>
            <a:endParaRPr lang="en-US"/>
          </a:p>
        </p:txBody>
      </p:sp>
      <p:sp>
        <p:nvSpPr>
          <p:cNvPr id="3" name="Rectangle: Rounded Corners 2">
            <a:extLst>
              <a:ext uri="{FF2B5EF4-FFF2-40B4-BE49-F238E27FC236}">
                <a16:creationId xmlns:a16="http://schemas.microsoft.com/office/drawing/2014/main" id="{F8F1EE7E-8767-2718-F67F-F150459FB477}"/>
              </a:ext>
            </a:extLst>
          </p:cNvPr>
          <p:cNvSpPr/>
          <p:nvPr/>
        </p:nvSpPr>
        <p:spPr>
          <a:xfrm>
            <a:off x="699770" y="149126"/>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Boundary Constraints: Kinematic Shaft Couplings</a:t>
            </a:r>
          </a:p>
        </p:txBody>
      </p:sp>
      <p:pic>
        <p:nvPicPr>
          <p:cNvPr id="5" name="Picture 4">
            <a:extLst>
              <a:ext uri="{FF2B5EF4-FFF2-40B4-BE49-F238E27FC236}">
                <a16:creationId xmlns:a16="http://schemas.microsoft.com/office/drawing/2014/main" id="{99C0AAF7-8395-B9E8-6AEB-638C36F040D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98500" y="949630"/>
            <a:ext cx="5207000" cy="2921000"/>
          </a:xfrm>
          <a:prstGeom prst="rect">
            <a:avLst/>
          </a:prstGeom>
        </p:spPr>
      </p:pic>
      <p:pic>
        <p:nvPicPr>
          <p:cNvPr id="7" name="Picture 6">
            <a:extLst>
              <a:ext uri="{FF2B5EF4-FFF2-40B4-BE49-F238E27FC236}">
                <a16:creationId xmlns:a16="http://schemas.microsoft.com/office/drawing/2014/main" id="{248A2FAF-18F5-3F48-9CCF-1258524989B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286500" y="949630"/>
            <a:ext cx="5207000" cy="2921000"/>
          </a:xfrm>
          <a:prstGeom prst="rect">
            <a:avLst/>
          </a:prstGeom>
        </p:spPr>
      </p:pic>
      <p:sp>
        <p:nvSpPr>
          <p:cNvPr id="8" name="Rectangle: Rounded Corners 7">
            <a:extLst>
              <a:ext uri="{FF2B5EF4-FFF2-40B4-BE49-F238E27FC236}">
                <a16:creationId xmlns:a16="http://schemas.microsoft.com/office/drawing/2014/main" id="{B1D6CED3-F53A-B66A-807E-6BFD4A6BF9D9}"/>
              </a:ext>
            </a:extLst>
          </p:cNvPr>
          <p:cNvSpPr/>
          <p:nvPr/>
        </p:nvSpPr>
        <p:spPr>
          <a:xfrm>
            <a:off x="698500" y="3928804"/>
            <a:ext cx="5207000" cy="2428875"/>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Kinematic Coupling Definition</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Control Points: Rigid Reference Points at gear center (RP-1) and pinion center (RP-2)
Coupled Surfaces: Inner cylindrical bore faces (Bore Diameter = 20.0 mm)
Degrees of Freedom Constrained: All 6 DOFs (U1, U2, U3, UR1, UR2, UR3)
Eliminates Artificial Stress Singularities: Distributes driving torque evenly across bore circumference</a:t>
            </a:r>
          </a:p>
        </p:txBody>
      </p:sp>
      <p:sp>
        <p:nvSpPr>
          <p:cNvPr id="9" name="Rectangle: Rounded Corners 8">
            <a:extLst>
              <a:ext uri="{FF2B5EF4-FFF2-40B4-BE49-F238E27FC236}">
                <a16:creationId xmlns:a16="http://schemas.microsoft.com/office/drawing/2014/main" id="{1B8DD554-03D8-50F5-03DA-A87D7F5389B5}"/>
              </a:ext>
            </a:extLst>
          </p:cNvPr>
          <p:cNvSpPr/>
          <p:nvPr/>
        </p:nvSpPr>
        <p:spPr>
          <a:xfrm>
            <a:off x="6286500" y="3928804"/>
            <a:ext cx="5207000" cy="2428875"/>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Shaft Kinematics &amp; Equilibrium</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Rigid Shaft Emulation: Replaces physical shaft while accurately capturing torsional stiffness
Center Distance Maintenance: Rigid reference points fix pitch center distance at exactly 296.4 mm
Bore Surface Regularization: Prevents localized mesh distortion around the inner hole during rotation
Clean Reaction Extraction: Direct extraction of total reaction moments RM3 and forces RF</a:t>
            </a:r>
          </a:p>
        </p:txBody>
      </p:sp>
    </p:spTree>
    <p:extLst>
      <p:ext uri="{BB962C8B-B14F-4D97-AF65-F5344CB8AC3E}">
        <p14:creationId xmlns:p14="http://schemas.microsoft.com/office/powerpoint/2010/main" val="1962524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74C8D7-43F6-6D86-981B-056469124528}"/>
              </a:ext>
            </a:extLst>
          </p:cNvPr>
          <p:cNvSpPr>
            <a:spLocks noGrp="1"/>
          </p:cNvSpPr>
          <p:nvPr>
            <p:ph type="sldNum" sz="quarter" idx="12"/>
          </p:nvPr>
        </p:nvSpPr>
        <p:spPr/>
        <p:txBody>
          <a:bodyPr/>
          <a:lstStyle/>
          <a:p>
            <a:fld id="{780D6419-8A5C-4EF9-A2D6-5BBA12496091}" type="slidenum">
              <a:rPr lang="en-US" smtClean="0"/>
              <a:t>18</a:t>
            </a:fld>
            <a:endParaRPr lang="en-US"/>
          </a:p>
        </p:txBody>
      </p:sp>
      <p:sp>
        <p:nvSpPr>
          <p:cNvPr id="3" name="Rectangle: Rounded Corners 2">
            <a:extLst>
              <a:ext uri="{FF2B5EF4-FFF2-40B4-BE49-F238E27FC236}">
                <a16:creationId xmlns:a16="http://schemas.microsoft.com/office/drawing/2014/main" id="{4C18AB19-DFAE-7080-4735-6F0F40D13086}"/>
              </a:ext>
            </a:extLst>
          </p:cNvPr>
          <p:cNvSpPr/>
          <p:nvPr/>
        </p:nvSpPr>
        <p:spPr>
          <a:xfrm>
            <a:off x="699770" y="227784"/>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Loading &amp; Boundary Conditions: Torque Application</a:t>
            </a:r>
          </a:p>
        </p:txBody>
      </p:sp>
      <p:pic>
        <p:nvPicPr>
          <p:cNvPr id="5" name="Picture 4">
            <a:extLst>
              <a:ext uri="{FF2B5EF4-FFF2-40B4-BE49-F238E27FC236}">
                <a16:creationId xmlns:a16="http://schemas.microsoft.com/office/drawing/2014/main" id="{C76579C6-4835-A87F-EE64-9ABCEFBA774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98500" y="1057792"/>
            <a:ext cx="5207000" cy="2921000"/>
          </a:xfrm>
          <a:prstGeom prst="rect">
            <a:avLst/>
          </a:prstGeom>
        </p:spPr>
      </p:pic>
      <p:pic>
        <p:nvPicPr>
          <p:cNvPr id="7" name="Picture 6">
            <a:extLst>
              <a:ext uri="{FF2B5EF4-FFF2-40B4-BE49-F238E27FC236}">
                <a16:creationId xmlns:a16="http://schemas.microsoft.com/office/drawing/2014/main" id="{0D8782E2-3AB3-0349-CE90-C0C51C8B01D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286500" y="1057792"/>
            <a:ext cx="5207000" cy="2921000"/>
          </a:xfrm>
          <a:prstGeom prst="rect">
            <a:avLst/>
          </a:prstGeom>
        </p:spPr>
      </p:pic>
      <p:sp>
        <p:nvSpPr>
          <p:cNvPr id="8" name="Rectangle: Rounded Corners 7">
            <a:extLst>
              <a:ext uri="{FF2B5EF4-FFF2-40B4-BE49-F238E27FC236}">
                <a16:creationId xmlns:a16="http://schemas.microsoft.com/office/drawing/2014/main" id="{FFC66006-6986-D211-9D4E-EA6680CA8851}"/>
              </a:ext>
            </a:extLst>
          </p:cNvPr>
          <p:cNvSpPr/>
          <p:nvPr/>
        </p:nvSpPr>
        <p:spPr>
          <a:xfrm>
            <a:off x="698500" y="4051505"/>
            <a:ext cx="5207000" cy="2304845"/>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Pinion Constraint: Fixed </a:t>
            </a:r>
            <a:r>
              <a:rPr lang="en-US" sz="1600" b="1" dirty="0" err="1">
                <a:solidFill>
                  <a:srgbClr val="143CA0"/>
                </a:solidFill>
                <a:latin typeface="Aptos" panose="020B0004020202020204" pitchFamily="34" charset="0"/>
              </a:rPr>
              <a:t>Encastre</a:t>
            </a:r>
            <a:endParaRPr lang="en-US" sz="1600" b="1" dirty="0">
              <a:solidFill>
                <a:srgbClr val="143CA0"/>
              </a:solidFill>
              <a:latin typeface="Aptos" panose="020B0004020202020204" pitchFamily="34" charset="0"/>
            </a:endParaRP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Target Node: </a:t>
            </a:r>
            <a:r>
              <a:rPr lang="en-US" sz="1300" b="1" dirty="0" err="1">
                <a:solidFill>
                  <a:schemeClr val="tx1"/>
                </a:solidFill>
                <a:latin typeface="Aptos" panose="020B0004020202020204" pitchFamily="34" charset="0"/>
              </a:rPr>
              <a:t>Set_RP_Pinion</a:t>
            </a:r>
            <a:r>
              <a:rPr lang="en-US" sz="1300" b="1" dirty="0">
                <a:solidFill>
                  <a:schemeClr val="tx1"/>
                </a:solidFill>
                <a:latin typeface="Aptos" panose="020B0004020202020204" pitchFamily="34" charset="0"/>
              </a:rPr>
              <a:t> (coupled to Pinion Bore surface)
Boundary Type: Fully Fixed </a:t>
            </a:r>
            <a:r>
              <a:rPr lang="en-US" sz="1300" b="1" dirty="0" err="1">
                <a:solidFill>
                  <a:schemeClr val="tx1"/>
                </a:solidFill>
                <a:latin typeface="Aptos" panose="020B0004020202020204" pitchFamily="34" charset="0"/>
              </a:rPr>
              <a:t>Encastre</a:t>
            </a:r>
            <a:r>
              <a:rPr lang="en-US" sz="1300" b="1" dirty="0">
                <a:solidFill>
                  <a:schemeClr val="tx1"/>
                </a:solidFill>
                <a:latin typeface="Aptos" panose="020B0004020202020204" pitchFamily="34" charset="0"/>
              </a:rPr>
              <a:t> (U1=U2=U3=UR1=UR2=UR3=0)
Engineering Role: Simulates locked output shaft / resisting driven load
Reaction Monitoring: Captures the resisting torque and radial separating forces</a:t>
            </a:r>
          </a:p>
        </p:txBody>
      </p:sp>
      <p:sp>
        <p:nvSpPr>
          <p:cNvPr id="9" name="Rectangle: Rounded Corners 8">
            <a:extLst>
              <a:ext uri="{FF2B5EF4-FFF2-40B4-BE49-F238E27FC236}">
                <a16:creationId xmlns:a16="http://schemas.microsoft.com/office/drawing/2014/main" id="{D11E92E3-38D3-F15F-F444-46196E44316D}"/>
              </a:ext>
            </a:extLst>
          </p:cNvPr>
          <p:cNvSpPr/>
          <p:nvPr/>
        </p:nvSpPr>
        <p:spPr>
          <a:xfrm>
            <a:off x="6286500" y="4051505"/>
            <a:ext cx="5207000" cy="2304845"/>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Gear Support &amp; Applied Driving Torque</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Target Node: </a:t>
            </a:r>
            <a:r>
              <a:rPr lang="en-US" sz="1300" b="1" dirty="0" err="1">
                <a:solidFill>
                  <a:schemeClr val="tx1"/>
                </a:solidFill>
                <a:latin typeface="Aptos" panose="020B0004020202020204" pitchFamily="34" charset="0"/>
              </a:rPr>
              <a:t>Set_RP_Gear</a:t>
            </a:r>
            <a:r>
              <a:rPr lang="en-US" sz="1300" b="1" dirty="0">
                <a:solidFill>
                  <a:schemeClr val="tx1"/>
                </a:solidFill>
                <a:latin typeface="Aptos" panose="020B0004020202020204" pitchFamily="34" charset="0"/>
              </a:rPr>
              <a:t> (coupled to Gear Bore surface)
Support BC: Pin Support (U1=U2=U3=UR1=UR2=0, UR3 free to rotate about Z-axis)
Applied Torque Load: Moment CM3 = 494,000 </a:t>
            </a:r>
            <a:r>
              <a:rPr lang="en-US" sz="1300" b="1" dirty="0" err="1">
                <a:solidFill>
                  <a:schemeClr val="tx1"/>
                </a:solidFill>
                <a:latin typeface="Aptos" panose="020B0004020202020204" pitchFamily="34" charset="0"/>
              </a:rPr>
              <a:t>N·mm</a:t>
            </a:r>
            <a:r>
              <a:rPr lang="en-US" sz="1300" b="1" dirty="0">
                <a:solidFill>
                  <a:schemeClr val="tx1"/>
                </a:solidFill>
                <a:latin typeface="Aptos" panose="020B0004020202020204" pitchFamily="34" charset="0"/>
              </a:rPr>
              <a:t> (494.0 </a:t>
            </a:r>
            <a:r>
              <a:rPr lang="en-US" sz="1300" b="1" dirty="0" err="1">
                <a:solidFill>
                  <a:schemeClr val="tx1"/>
                </a:solidFill>
                <a:latin typeface="Aptos" panose="020B0004020202020204" pitchFamily="34" charset="0"/>
              </a:rPr>
              <a:t>N·m</a:t>
            </a:r>
            <a:r>
              <a:rPr lang="en-US" sz="1300" b="1" dirty="0">
                <a:solidFill>
                  <a:schemeClr val="tx1"/>
                </a:solidFill>
                <a:latin typeface="Aptos" panose="020B0004020202020204" pitchFamily="34" charset="0"/>
              </a:rPr>
              <a:t> based on Index 210494)
Load Application: Applied smoothly via Ramp amplitude across step time (0 to 1.0)</a:t>
            </a:r>
          </a:p>
        </p:txBody>
      </p:sp>
    </p:spTree>
    <p:extLst>
      <p:ext uri="{BB962C8B-B14F-4D97-AF65-F5344CB8AC3E}">
        <p14:creationId xmlns:p14="http://schemas.microsoft.com/office/powerpoint/2010/main" val="4124791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AD92D9-7284-9A27-DFB9-C8352859EEAA}"/>
              </a:ext>
            </a:extLst>
          </p:cNvPr>
          <p:cNvSpPr>
            <a:spLocks noGrp="1"/>
          </p:cNvSpPr>
          <p:nvPr>
            <p:ph type="sldNum" sz="quarter" idx="12"/>
          </p:nvPr>
        </p:nvSpPr>
        <p:spPr/>
        <p:txBody>
          <a:bodyPr/>
          <a:lstStyle/>
          <a:p>
            <a:fld id="{780D6419-8A5C-4EF9-A2D6-5BBA12496091}" type="slidenum">
              <a:rPr lang="en-US" smtClean="0"/>
              <a:t>19</a:t>
            </a:fld>
            <a:endParaRPr lang="en-US"/>
          </a:p>
        </p:txBody>
      </p:sp>
      <p:sp>
        <p:nvSpPr>
          <p:cNvPr id="3" name="Rectangle: Rounded Corners 2">
            <a:extLst>
              <a:ext uri="{FF2B5EF4-FFF2-40B4-BE49-F238E27FC236}">
                <a16:creationId xmlns:a16="http://schemas.microsoft.com/office/drawing/2014/main" id="{B872EF8C-C1E7-FDBB-DA92-BA45DEA6DC9D}"/>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Finite Element Meshing: Strategy &amp; Sizing Controls</a:t>
            </a:r>
          </a:p>
        </p:txBody>
      </p:sp>
      <p:pic>
        <p:nvPicPr>
          <p:cNvPr id="5" name="Picture 4">
            <a:extLst>
              <a:ext uri="{FF2B5EF4-FFF2-40B4-BE49-F238E27FC236}">
                <a16:creationId xmlns:a16="http://schemas.microsoft.com/office/drawing/2014/main" id="{C75A93B5-99CD-5A51-596F-BF4B7A7A669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98500" y="1244600"/>
            <a:ext cx="5207000" cy="2921000"/>
          </a:xfrm>
          <a:prstGeom prst="rect">
            <a:avLst/>
          </a:prstGeom>
        </p:spPr>
      </p:pic>
      <p:pic>
        <p:nvPicPr>
          <p:cNvPr id="7" name="Picture 6">
            <a:extLst>
              <a:ext uri="{FF2B5EF4-FFF2-40B4-BE49-F238E27FC236}">
                <a16:creationId xmlns:a16="http://schemas.microsoft.com/office/drawing/2014/main" id="{85D72CFA-98E7-B6A2-54E0-EAFE70A099E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286500" y="1244600"/>
            <a:ext cx="5207000" cy="2921000"/>
          </a:xfrm>
          <a:prstGeom prst="rect">
            <a:avLst/>
          </a:prstGeom>
        </p:spPr>
      </p:pic>
      <p:sp>
        <p:nvSpPr>
          <p:cNvPr id="8" name="Rectangle: Rounded Corners 7">
            <a:extLst>
              <a:ext uri="{FF2B5EF4-FFF2-40B4-BE49-F238E27FC236}">
                <a16:creationId xmlns:a16="http://schemas.microsoft.com/office/drawing/2014/main" id="{E2AB6F63-6D1C-16B2-97CF-2535B7F3E4D8}"/>
              </a:ext>
            </a:extLst>
          </p:cNvPr>
          <p:cNvSpPr/>
          <p:nvPr/>
        </p:nvSpPr>
        <p:spPr>
          <a:xfrm>
            <a:off x="698500" y="4292599"/>
            <a:ext cx="5207000" cy="2285181"/>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Global Seeding &amp; Curvature Control</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Element Sizing: Parametric global seeding scaled across convergence study (20mm to 9mm)
Curvature Control: Maximum deviation factor h/L = 0.2 (Min 4 elements per circle arc)
Minimum Size Fraction: 0.1 of global size (minimum 2.0 mm limit)
Geometric Conformance: Ensures smooth representation of curved involute profile and root fillets</a:t>
            </a:r>
          </a:p>
        </p:txBody>
      </p:sp>
      <p:sp>
        <p:nvSpPr>
          <p:cNvPr id="9" name="Rectangle: Rounded Corners 8">
            <a:extLst>
              <a:ext uri="{FF2B5EF4-FFF2-40B4-BE49-F238E27FC236}">
                <a16:creationId xmlns:a16="http://schemas.microsoft.com/office/drawing/2014/main" id="{D932E8AB-11E4-9BF4-DF11-C0B23B8E859A}"/>
              </a:ext>
            </a:extLst>
          </p:cNvPr>
          <p:cNvSpPr/>
          <p:nvPr/>
        </p:nvSpPr>
        <p:spPr>
          <a:xfrm>
            <a:off x="6286500" y="4292599"/>
            <a:ext cx="5207000" cy="2285181"/>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Element Type: C3D10 Quadratic Tetrahedral</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Element Formulation: 10-node second-order tetrahedral solid elements (C3D10)
Parabolic Shape Functions: Eliminates volumetric locking and shear locking inherent in first-order </a:t>
            </a:r>
            <a:r>
              <a:rPr lang="en-US" sz="1300" b="1" dirty="0" err="1">
                <a:solidFill>
                  <a:schemeClr val="tx1"/>
                </a:solidFill>
                <a:latin typeface="Aptos" panose="020B0004020202020204" pitchFamily="34" charset="0"/>
              </a:rPr>
              <a:t>tets</a:t>
            </a:r>
            <a:r>
              <a:rPr lang="en-US" sz="1300" b="1" dirty="0">
                <a:solidFill>
                  <a:schemeClr val="tx1"/>
                </a:solidFill>
                <a:latin typeface="Aptos" panose="020B0004020202020204" pitchFamily="34" charset="0"/>
              </a:rPr>
              <a:t>
Meshing Technique: Free tetrahedral meshing with standard interior element growth
Boundary Layer: Mapped triangular meshing on boundary faces for superior contact surface smoothness</a:t>
            </a:r>
          </a:p>
        </p:txBody>
      </p:sp>
    </p:spTree>
    <p:extLst>
      <p:ext uri="{BB962C8B-B14F-4D97-AF65-F5344CB8AC3E}">
        <p14:creationId xmlns:p14="http://schemas.microsoft.com/office/powerpoint/2010/main" val="210578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FAFCE2-23F3-E5B2-9AF4-708C72F40208}"/>
              </a:ext>
            </a:extLst>
          </p:cNvPr>
          <p:cNvSpPr>
            <a:spLocks noGrp="1"/>
          </p:cNvSpPr>
          <p:nvPr>
            <p:ph type="sldNum" sz="quarter" idx="12"/>
          </p:nvPr>
        </p:nvSpPr>
        <p:spPr/>
        <p:txBody>
          <a:bodyPr/>
          <a:lstStyle/>
          <a:p>
            <a:fld id="{780D6419-8A5C-4EF9-A2D6-5BBA12496091}" type="slidenum">
              <a:rPr lang="en-US" smtClean="0"/>
              <a:t>20</a:t>
            </a:fld>
            <a:endParaRPr lang="en-US"/>
          </a:p>
        </p:txBody>
      </p:sp>
      <p:sp>
        <p:nvSpPr>
          <p:cNvPr id="3" name="Rectangle: Rounded Corners 2">
            <a:extLst>
              <a:ext uri="{FF2B5EF4-FFF2-40B4-BE49-F238E27FC236}">
                <a16:creationId xmlns:a16="http://schemas.microsoft.com/office/drawing/2014/main" id="{1980E446-D102-B92F-7CE4-70424327EDE4}"/>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3D Discretized Gear Pair Assembly</a:t>
            </a:r>
          </a:p>
        </p:txBody>
      </p:sp>
      <p:pic>
        <p:nvPicPr>
          <p:cNvPr id="5" name="Picture 4">
            <a:extLst>
              <a:ext uri="{FF2B5EF4-FFF2-40B4-BE49-F238E27FC236}">
                <a16:creationId xmlns:a16="http://schemas.microsoft.com/office/drawing/2014/main" id="{524DA1A2-7A01-9401-21FF-6AC6DF865A6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98500" y="1244600"/>
            <a:ext cx="6604000" cy="5016500"/>
          </a:xfrm>
          <a:prstGeom prst="rect">
            <a:avLst/>
          </a:prstGeom>
        </p:spPr>
      </p:pic>
      <p:sp>
        <p:nvSpPr>
          <p:cNvPr id="6" name="Rectangle: Rounded Corners 5">
            <a:extLst>
              <a:ext uri="{FF2B5EF4-FFF2-40B4-BE49-F238E27FC236}">
                <a16:creationId xmlns:a16="http://schemas.microsoft.com/office/drawing/2014/main" id="{23CD6AD2-2A96-E222-2045-A45EA7460E66}"/>
              </a:ext>
            </a:extLst>
          </p:cNvPr>
          <p:cNvSpPr/>
          <p:nvPr/>
        </p:nvSpPr>
        <p:spPr>
          <a:xfrm>
            <a:off x="7493000" y="1244600"/>
            <a:ext cx="4000500" cy="5016500"/>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200"/>
              </a:spcAft>
            </a:pPr>
            <a:r>
              <a:rPr lang="en-US" sz="1600" b="1" dirty="0">
                <a:solidFill>
                  <a:srgbClr val="143CA0"/>
                </a:solidFill>
                <a:latin typeface="Aptos" panose="020B0004020202020204" pitchFamily="34" charset="0"/>
              </a:rPr>
              <a:t>Mesh Topology &amp; Quality Metrics</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Full 3D Solid Mesh: Both gear wheel and pinion fully discretized with continuum solid elements
Conformal Contact Zone: Curvature-based seeding automatically increases mesh density along involute tooth faces
Root Fillet Refinement: Captures high tensile bending stress gradients at the tooth root trochoid
Mesh Sizing Grid: Evaluated across 4 systematic levels (20mm, 16mm, 12mm, 9mm)
Peak Element Count: 113,902 elements and 174,807 nodes in the selected 9mm primary model
Element Quality Check: 0 distorted elements, 0 negative Jacobians, 100% solver pass rate</a:t>
            </a:r>
          </a:p>
        </p:txBody>
      </p:sp>
    </p:spTree>
    <p:extLst>
      <p:ext uri="{BB962C8B-B14F-4D97-AF65-F5344CB8AC3E}">
        <p14:creationId xmlns:p14="http://schemas.microsoft.com/office/powerpoint/2010/main" val="2573237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0EF448-FE52-3067-16E4-205B46F916E4}"/>
              </a:ext>
            </a:extLst>
          </p:cNvPr>
          <p:cNvSpPr>
            <a:spLocks noGrp="1"/>
          </p:cNvSpPr>
          <p:nvPr>
            <p:ph type="sldNum" sz="quarter" idx="12"/>
          </p:nvPr>
        </p:nvSpPr>
        <p:spPr/>
        <p:txBody>
          <a:bodyPr/>
          <a:lstStyle/>
          <a:p>
            <a:fld id="{780D6419-8A5C-4EF9-A2D6-5BBA12496091}" type="slidenum">
              <a:rPr lang="en-US" smtClean="0"/>
              <a:t>21</a:t>
            </a:fld>
            <a:endParaRPr lang="en-US"/>
          </a:p>
        </p:txBody>
      </p:sp>
      <p:sp>
        <p:nvSpPr>
          <p:cNvPr id="3" name="Rectangle: Rounded Corners 2">
            <a:extLst>
              <a:ext uri="{FF2B5EF4-FFF2-40B4-BE49-F238E27FC236}">
                <a16:creationId xmlns:a16="http://schemas.microsoft.com/office/drawing/2014/main" id="{F32B6894-557B-19A8-EB69-746A1EB51656}"/>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Mesh Convergence Study: Solver Execution</a:t>
            </a:r>
          </a:p>
        </p:txBody>
      </p:sp>
      <p:pic>
        <p:nvPicPr>
          <p:cNvPr id="5" name="Picture 4">
            <a:extLst>
              <a:ext uri="{FF2B5EF4-FFF2-40B4-BE49-F238E27FC236}">
                <a16:creationId xmlns:a16="http://schemas.microsoft.com/office/drawing/2014/main" id="{ACCB5FB9-0381-8A9B-04AF-965B592BDE6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98500" y="1244600"/>
            <a:ext cx="6604000" cy="5016500"/>
          </a:xfrm>
          <a:prstGeom prst="rect">
            <a:avLst/>
          </a:prstGeom>
        </p:spPr>
      </p:pic>
      <p:sp>
        <p:nvSpPr>
          <p:cNvPr id="6" name="Rectangle: Rounded Corners 5">
            <a:extLst>
              <a:ext uri="{FF2B5EF4-FFF2-40B4-BE49-F238E27FC236}">
                <a16:creationId xmlns:a16="http://schemas.microsoft.com/office/drawing/2014/main" id="{0F3D5C7A-2E1D-887D-C3B1-C7E203832447}"/>
              </a:ext>
            </a:extLst>
          </p:cNvPr>
          <p:cNvSpPr/>
          <p:nvPr/>
        </p:nvSpPr>
        <p:spPr>
          <a:xfrm>
            <a:off x="7493000" y="1244600"/>
            <a:ext cx="4000500" cy="5016500"/>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200"/>
              </a:spcAft>
            </a:pPr>
            <a:r>
              <a:rPr lang="en-US" sz="1600" b="1" dirty="0">
                <a:solidFill>
                  <a:srgbClr val="143CA0"/>
                </a:solidFill>
                <a:latin typeface="Aptos" panose="020B0004020202020204" pitchFamily="34" charset="0"/>
              </a:rPr>
              <a:t>Abaqus/Standard Solver Execution</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Solver Scheme: Abaqus/Standard implicit non-linear solver with Full Newton-Raphson iteration
Non-linear Formulations: Active contact non-linearity, large geometric deformation (</a:t>
            </a:r>
            <a:r>
              <a:rPr lang="en-US" sz="1300" b="1" dirty="0" err="1">
                <a:solidFill>
                  <a:schemeClr val="tx1"/>
                </a:solidFill>
                <a:latin typeface="Aptos" panose="020B0004020202020204" pitchFamily="34" charset="0"/>
              </a:rPr>
              <a:t>Nlgeom</a:t>
            </a:r>
            <a:r>
              <a:rPr lang="en-US" sz="1300" b="1" dirty="0">
                <a:solidFill>
                  <a:schemeClr val="tx1"/>
                </a:solidFill>
                <a:latin typeface="Aptos" panose="020B0004020202020204" pitchFamily="34" charset="0"/>
              </a:rPr>
              <a:t>), and plasticity
Parametric Jobs Executed: </a:t>
            </a:r>
          </a:p>
          <a:p>
            <a:pPr>
              <a:spcAft>
                <a:spcPts val="600"/>
              </a:spcAft>
            </a:pPr>
            <a:r>
              <a:rPr lang="en-US" sz="1300" b="1" dirty="0">
                <a:solidFill>
                  <a:schemeClr val="tx1"/>
                </a:solidFill>
                <a:latin typeface="Aptos" panose="020B0004020202020204" pitchFamily="34" charset="0"/>
              </a:rPr>
              <a:t>         • Job_Mesh0_20mm (81,952 </a:t>
            </a:r>
            <a:r>
              <a:rPr lang="en-US" sz="1300" b="1" dirty="0" err="1">
                <a:solidFill>
                  <a:schemeClr val="tx1"/>
                </a:solidFill>
                <a:latin typeface="Aptos" panose="020B0004020202020204" pitchFamily="34" charset="0"/>
              </a:rPr>
              <a:t>elems</a:t>
            </a:r>
            <a:r>
              <a:rPr lang="en-US" sz="1300" b="1" dirty="0">
                <a:solidFill>
                  <a:schemeClr val="tx1"/>
                </a:solidFill>
                <a:latin typeface="Aptos" panose="020B0004020202020204" pitchFamily="34" charset="0"/>
              </a:rPr>
              <a:t>)
         • Job_Mesh1_16mm (91,707 </a:t>
            </a:r>
            <a:r>
              <a:rPr lang="en-US" sz="1300" b="1" dirty="0" err="1">
                <a:solidFill>
                  <a:schemeClr val="tx1"/>
                </a:solidFill>
                <a:latin typeface="Aptos" panose="020B0004020202020204" pitchFamily="34" charset="0"/>
              </a:rPr>
              <a:t>elems</a:t>
            </a:r>
            <a:r>
              <a:rPr lang="en-US" sz="1300" b="1" dirty="0">
                <a:solidFill>
                  <a:schemeClr val="tx1"/>
                </a:solidFill>
                <a:latin typeface="Aptos" panose="020B0004020202020204" pitchFamily="34" charset="0"/>
              </a:rPr>
              <a:t>)
         • Job_Mesh2_12mm (102,134 </a:t>
            </a:r>
            <a:r>
              <a:rPr lang="en-US" sz="1300" b="1" dirty="0" err="1">
                <a:solidFill>
                  <a:schemeClr val="tx1"/>
                </a:solidFill>
                <a:latin typeface="Aptos" panose="020B0004020202020204" pitchFamily="34" charset="0"/>
              </a:rPr>
              <a:t>elems</a:t>
            </a:r>
            <a:r>
              <a:rPr lang="en-US" sz="1300" b="1" dirty="0">
                <a:solidFill>
                  <a:schemeClr val="tx1"/>
                </a:solidFill>
                <a:latin typeface="Aptos" panose="020B0004020202020204" pitchFamily="34" charset="0"/>
              </a:rPr>
              <a:t>)
         • Job_Mesh3_9mm (113,902 </a:t>
            </a:r>
            <a:r>
              <a:rPr lang="en-US" sz="1300" b="1" dirty="0" err="1">
                <a:solidFill>
                  <a:schemeClr val="tx1"/>
                </a:solidFill>
                <a:latin typeface="Aptos" panose="020B0004020202020204" pitchFamily="34" charset="0"/>
              </a:rPr>
              <a:t>elems</a:t>
            </a:r>
            <a:r>
              <a:rPr lang="en-US" sz="1300" b="1" dirty="0">
                <a:solidFill>
                  <a:schemeClr val="tx1"/>
                </a:solidFill>
                <a:latin typeface="Aptos" panose="020B0004020202020204" pitchFamily="34" charset="0"/>
              </a:rPr>
              <a:t>)</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Convergence Completion: All 4 models achieved 100% completion (Step Time = 1.000) without cutbacks or divergence
Output Database (ODB): Full stress, strain, displacement, and contact tensor fields archived for post-processing</a:t>
            </a:r>
          </a:p>
        </p:txBody>
      </p:sp>
    </p:spTree>
    <p:extLst>
      <p:ext uri="{BB962C8B-B14F-4D97-AF65-F5344CB8AC3E}">
        <p14:creationId xmlns:p14="http://schemas.microsoft.com/office/powerpoint/2010/main" val="2578882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4383A3-0256-26AD-4962-38143455446C}"/>
              </a:ext>
            </a:extLst>
          </p:cNvPr>
          <p:cNvSpPr>
            <a:spLocks noGrp="1"/>
          </p:cNvSpPr>
          <p:nvPr>
            <p:ph type="sldNum" sz="quarter" idx="12"/>
          </p:nvPr>
        </p:nvSpPr>
        <p:spPr/>
        <p:txBody>
          <a:bodyPr/>
          <a:lstStyle/>
          <a:p>
            <a:fld id="{780D6419-8A5C-4EF9-A2D6-5BBA12496091}" type="slidenum">
              <a:rPr lang="en-US" smtClean="0"/>
              <a:t>22</a:t>
            </a:fld>
            <a:endParaRPr lang="en-US"/>
          </a:p>
        </p:txBody>
      </p:sp>
      <p:sp>
        <p:nvSpPr>
          <p:cNvPr id="3" name="Rectangle: Rounded Corners 2">
            <a:extLst>
              <a:ext uri="{FF2B5EF4-FFF2-40B4-BE49-F238E27FC236}">
                <a16:creationId xmlns:a16="http://schemas.microsoft.com/office/drawing/2014/main" id="{B8AE0A13-3DA7-87C9-0054-D963E27CFE98}"/>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Primary Results: von Mises Stress Distribution (9mm Mesh)</a:t>
            </a:r>
          </a:p>
        </p:txBody>
      </p:sp>
      <p:pic>
        <p:nvPicPr>
          <p:cNvPr id="5" name="Picture 4">
            <a:extLst>
              <a:ext uri="{FF2B5EF4-FFF2-40B4-BE49-F238E27FC236}">
                <a16:creationId xmlns:a16="http://schemas.microsoft.com/office/drawing/2014/main" id="{A905F2C8-13C3-BC36-9531-4CDC6898332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98500" y="1244600"/>
            <a:ext cx="6477000" cy="5016500"/>
          </a:xfrm>
          <a:prstGeom prst="rect">
            <a:avLst/>
          </a:prstGeom>
        </p:spPr>
      </p:pic>
      <p:sp>
        <p:nvSpPr>
          <p:cNvPr id="6" name="Rectangle: Rounded Corners 5">
            <a:extLst>
              <a:ext uri="{FF2B5EF4-FFF2-40B4-BE49-F238E27FC236}">
                <a16:creationId xmlns:a16="http://schemas.microsoft.com/office/drawing/2014/main" id="{B6447923-108A-BED5-C629-B65E884D0A26}"/>
              </a:ext>
            </a:extLst>
          </p:cNvPr>
          <p:cNvSpPr/>
          <p:nvPr/>
        </p:nvSpPr>
        <p:spPr>
          <a:xfrm>
            <a:off x="7366000" y="1244600"/>
            <a:ext cx="4127500" cy="5016500"/>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Stress Analysis &amp; Structural Integrity</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Primary Model: Job_Mesh3_9mm.odb (113,902 elements, 174,807 nodes) - Selected by user
Peak von Mises Stress (</a:t>
            </a:r>
            <a:r>
              <a:rPr lang="el-GR" sz="1300" b="1" dirty="0">
                <a:solidFill>
                  <a:schemeClr val="tx1"/>
                </a:solidFill>
                <a:latin typeface="Aptos" panose="020B0004020202020204" pitchFamily="34" charset="0"/>
              </a:rPr>
              <a:t>σ_</a:t>
            </a:r>
            <a:r>
              <a:rPr lang="en-US" sz="1300" b="1" dirty="0" err="1">
                <a:solidFill>
                  <a:schemeClr val="tx1"/>
                </a:solidFill>
                <a:latin typeface="Aptos" panose="020B0004020202020204" pitchFamily="34" charset="0"/>
              </a:rPr>
              <a:t>vM</a:t>
            </a:r>
            <a:r>
              <a:rPr lang="en-US" sz="1300" b="1" dirty="0">
                <a:solidFill>
                  <a:schemeClr val="tx1"/>
                </a:solidFill>
                <a:latin typeface="Aptos" panose="020B0004020202020204" pitchFamily="34" charset="0"/>
              </a:rPr>
              <a:t>): 50.08 MPa located at the active pitch-line contact line
Bending Stress at Root: ~28-35 MPa in the tension-side tooth fillet, well below allowable limits
Material Yield Limit: Stainless Steel Yield Strength Sy ≈ 250 MPa
Factor of Safety (SF): Sy / </a:t>
            </a:r>
            <a:r>
              <a:rPr lang="el-GR" sz="1300" b="1" dirty="0">
                <a:solidFill>
                  <a:schemeClr val="tx1"/>
                </a:solidFill>
                <a:latin typeface="Aptos" panose="020B0004020202020204" pitchFamily="34" charset="0"/>
              </a:rPr>
              <a:t>σ_</a:t>
            </a:r>
            <a:r>
              <a:rPr lang="en-US" sz="1300" b="1" dirty="0">
                <a:solidFill>
                  <a:schemeClr val="tx1"/>
                </a:solidFill>
                <a:latin typeface="Aptos" panose="020B0004020202020204" pitchFamily="34" charset="0"/>
              </a:rPr>
              <a:t>max = 250 / 50.08 ≈ 5.0 (High safety margin under 494 </a:t>
            </a:r>
            <a:r>
              <a:rPr lang="en-US" sz="1300" b="1" dirty="0" err="1">
                <a:solidFill>
                  <a:schemeClr val="tx1"/>
                </a:solidFill>
                <a:latin typeface="Aptos" panose="020B0004020202020204" pitchFamily="34" charset="0"/>
              </a:rPr>
              <a:t>N·m</a:t>
            </a:r>
            <a:r>
              <a:rPr lang="en-US" sz="1300" b="1" dirty="0">
                <a:solidFill>
                  <a:schemeClr val="tx1"/>
                </a:solidFill>
                <a:latin typeface="Aptos" panose="020B0004020202020204" pitchFamily="34" charset="0"/>
              </a:rPr>
              <a:t>)
Plastic Strain (PEEQ): Exactly 0.000 across all elements, verifying gear operates purely in linear elastic regime</a:t>
            </a:r>
          </a:p>
        </p:txBody>
      </p:sp>
      <p:pic>
        <p:nvPicPr>
          <p:cNvPr id="4" name="FEA_Stress_Video">
            <a:hlinkClick r:id="" action="ppaction://media"/>
            <a:extLst>
              <a:ext uri="{FF2B5EF4-FFF2-40B4-BE49-F238E27FC236}">
                <a16:creationId xmlns:a16="http://schemas.microsoft.com/office/drawing/2014/main" id="{7AAE4998-F46B-9D3B-54B4-121647D8D15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98500" y="1244599"/>
            <a:ext cx="9908109" cy="5016500"/>
          </a:xfrm>
          <a:prstGeom prst="rect">
            <a:avLst/>
          </a:prstGeom>
        </p:spPr>
      </p:pic>
    </p:spTree>
    <p:extLst>
      <p:ext uri="{BB962C8B-B14F-4D97-AF65-F5344CB8AC3E}">
        <p14:creationId xmlns:p14="http://schemas.microsoft.com/office/powerpoint/2010/main" val="221027366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1715A7-4282-FD6B-5BB4-E04FB997711D}"/>
              </a:ext>
            </a:extLst>
          </p:cNvPr>
          <p:cNvSpPr>
            <a:spLocks noGrp="1"/>
          </p:cNvSpPr>
          <p:nvPr>
            <p:ph type="sldNum" sz="quarter" idx="12"/>
          </p:nvPr>
        </p:nvSpPr>
        <p:spPr/>
        <p:txBody>
          <a:bodyPr/>
          <a:lstStyle/>
          <a:p>
            <a:fld id="{780D6419-8A5C-4EF9-A2D6-5BBA12496091}" type="slidenum">
              <a:rPr lang="en-US" smtClean="0"/>
              <a:t>23</a:t>
            </a:fld>
            <a:endParaRPr lang="en-US"/>
          </a:p>
        </p:txBody>
      </p:sp>
      <p:sp>
        <p:nvSpPr>
          <p:cNvPr id="3" name="Rectangle: Rounded Corners 2">
            <a:extLst>
              <a:ext uri="{FF2B5EF4-FFF2-40B4-BE49-F238E27FC236}">
                <a16:creationId xmlns:a16="http://schemas.microsoft.com/office/drawing/2014/main" id="{1555F6E0-424F-50D3-8570-A4F3F1B45C47}"/>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Primary Results: Total Displacement Field (9mm Mesh)</a:t>
            </a:r>
          </a:p>
        </p:txBody>
      </p:sp>
      <p:pic>
        <p:nvPicPr>
          <p:cNvPr id="5" name="Picture 4">
            <a:extLst>
              <a:ext uri="{FF2B5EF4-FFF2-40B4-BE49-F238E27FC236}">
                <a16:creationId xmlns:a16="http://schemas.microsoft.com/office/drawing/2014/main" id="{A000BF07-E9FD-7F7A-9AB3-45F948FAC3E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98500" y="1244600"/>
            <a:ext cx="6477000" cy="5016500"/>
          </a:xfrm>
          <a:prstGeom prst="rect">
            <a:avLst/>
          </a:prstGeom>
        </p:spPr>
      </p:pic>
      <p:sp>
        <p:nvSpPr>
          <p:cNvPr id="6" name="Rectangle: Rounded Corners 5">
            <a:extLst>
              <a:ext uri="{FF2B5EF4-FFF2-40B4-BE49-F238E27FC236}">
                <a16:creationId xmlns:a16="http://schemas.microsoft.com/office/drawing/2014/main" id="{C2A13D6D-3D15-5C30-6D8A-D69D0A4506CE}"/>
              </a:ext>
            </a:extLst>
          </p:cNvPr>
          <p:cNvSpPr/>
          <p:nvPr/>
        </p:nvSpPr>
        <p:spPr>
          <a:xfrm>
            <a:off x="7366000" y="1244600"/>
            <a:ext cx="4127500" cy="5016500"/>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Displacement &amp; Kinematic Verification</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Primary Model: Job_Mesh3_9mm.odb (Seed = 9.0 mm)
Peak Displacement (</a:t>
            </a:r>
            <a:r>
              <a:rPr lang="en-US" sz="1300" b="1" dirty="0" err="1">
                <a:solidFill>
                  <a:schemeClr val="tx1"/>
                </a:solidFill>
                <a:latin typeface="Aptos" panose="020B0004020202020204" pitchFamily="34" charset="0"/>
              </a:rPr>
              <a:t>U_max</a:t>
            </a:r>
            <a:r>
              <a:rPr lang="en-US" sz="1300" b="1" dirty="0">
                <a:solidFill>
                  <a:schemeClr val="tx1"/>
                </a:solidFill>
                <a:latin typeface="Aptos" panose="020B0004020202020204" pitchFamily="34" charset="0"/>
              </a:rPr>
              <a:t>): 0.0114 mm = 1.143 × 10^-2 mm (11.4 </a:t>
            </a:r>
            <a:r>
              <a:rPr lang="el-GR" sz="1300" b="1" dirty="0">
                <a:solidFill>
                  <a:schemeClr val="tx1"/>
                </a:solidFill>
                <a:latin typeface="Aptos" panose="020B0004020202020204" pitchFamily="34" charset="0"/>
              </a:rPr>
              <a:t>μ</a:t>
            </a:r>
            <a:r>
              <a:rPr lang="en-US" sz="1300" b="1" dirty="0">
                <a:solidFill>
                  <a:schemeClr val="tx1"/>
                </a:solidFill>
                <a:latin typeface="Aptos" panose="020B0004020202020204" pitchFamily="34" charset="0"/>
              </a:rPr>
              <a:t>m)
Peak Location: Outermost tip of gear tooth undergoing torsional deflection under 494 </a:t>
            </a:r>
            <a:r>
              <a:rPr lang="en-US" sz="1300" b="1" dirty="0" err="1">
                <a:solidFill>
                  <a:schemeClr val="tx1"/>
                </a:solidFill>
                <a:latin typeface="Aptos" panose="020B0004020202020204" pitchFamily="34" charset="0"/>
              </a:rPr>
              <a:t>N·m</a:t>
            </a:r>
            <a:r>
              <a:rPr lang="en-US" sz="1300" b="1" dirty="0">
                <a:solidFill>
                  <a:schemeClr val="tx1"/>
                </a:solidFill>
                <a:latin typeface="Aptos" panose="020B0004020202020204" pitchFamily="34" charset="0"/>
              </a:rPr>
              <a:t> torque
Pinion Bore Verification: Exactly 0.000 mm displacement at pinion bore and reference point
Rigid Boundary Enforcement: Confirms </a:t>
            </a:r>
            <a:r>
              <a:rPr lang="en-US" sz="1300" b="1" dirty="0" err="1">
                <a:solidFill>
                  <a:schemeClr val="tx1"/>
                </a:solidFill>
                <a:latin typeface="Aptos" panose="020B0004020202020204" pitchFamily="34" charset="0"/>
              </a:rPr>
              <a:t>encastre</a:t>
            </a:r>
            <a:r>
              <a:rPr lang="en-US" sz="1300" b="1" dirty="0">
                <a:solidFill>
                  <a:schemeClr val="tx1"/>
                </a:solidFill>
                <a:latin typeface="Aptos" panose="020B0004020202020204" pitchFamily="34" charset="0"/>
              </a:rPr>
              <a:t> boundary condition strictly held pinion stationary
Tooth Contact Compliance: Smooth elastic deflection across tooth engagement prevents shock loading</a:t>
            </a:r>
          </a:p>
        </p:txBody>
      </p:sp>
      <p:pic>
        <p:nvPicPr>
          <p:cNvPr id="4" name="FEA_Disp_Video">
            <a:hlinkClick r:id="" action="ppaction://media"/>
            <a:extLst>
              <a:ext uri="{FF2B5EF4-FFF2-40B4-BE49-F238E27FC236}">
                <a16:creationId xmlns:a16="http://schemas.microsoft.com/office/drawing/2014/main" id="{A3793682-A558-F357-9E78-6026F895FED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98500" y="1244599"/>
            <a:ext cx="9908109" cy="5016500"/>
          </a:xfrm>
          <a:prstGeom prst="rect">
            <a:avLst/>
          </a:prstGeom>
        </p:spPr>
      </p:pic>
    </p:spTree>
    <p:extLst>
      <p:ext uri="{BB962C8B-B14F-4D97-AF65-F5344CB8AC3E}">
        <p14:creationId xmlns:p14="http://schemas.microsoft.com/office/powerpoint/2010/main" val="260407983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2E1B22-127C-3093-91BB-F448A1C2C6D4}"/>
              </a:ext>
            </a:extLst>
          </p:cNvPr>
          <p:cNvSpPr>
            <a:spLocks noGrp="1"/>
          </p:cNvSpPr>
          <p:nvPr>
            <p:ph type="sldNum" sz="quarter" idx="12"/>
          </p:nvPr>
        </p:nvSpPr>
        <p:spPr/>
        <p:txBody>
          <a:bodyPr/>
          <a:lstStyle/>
          <a:p>
            <a:fld id="{780D6419-8A5C-4EF9-A2D6-5BBA12496091}" type="slidenum">
              <a:rPr lang="en-US" smtClean="0"/>
              <a:t>24</a:t>
            </a:fld>
            <a:endParaRPr lang="en-US"/>
          </a:p>
        </p:txBody>
      </p:sp>
      <p:sp>
        <p:nvSpPr>
          <p:cNvPr id="3" name="Rectangle: Rounded Corners 2">
            <a:extLst>
              <a:ext uri="{FF2B5EF4-FFF2-40B4-BE49-F238E27FC236}">
                <a16:creationId xmlns:a16="http://schemas.microsoft.com/office/drawing/2014/main" id="{3B2C7B6F-9D39-6A1F-0927-C30DD939F126}"/>
              </a:ext>
            </a:extLst>
          </p:cNvPr>
          <p:cNvSpPr/>
          <p:nvPr/>
        </p:nvSpPr>
        <p:spPr>
          <a:xfrm>
            <a:off x="699770" y="158956"/>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dirty="0">
                <a:solidFill>
                  <a:srgbClr val="FFFFFF"/>
                </a:solidFill>
                <a:latin typeface="Aptos Display" panose="020B0004020202020204" pitchFamily="34" charset="0"/>
              </a:rPr>
              <a:t>4-Mesh Convergence Study &amp; Numerical Validation</a:t>
            </a:r>
          </a:p>
        </p:txBody>
      </p:sp>
      <p:pic>
        <p:nvPicPr>
          <p:cNvPr id="5" name="Picture 4">
            <a:extLst>
              <a:ext uri="{FF2B5EF4-FFF2-40B4-BE49-F238E27FC236}">
                <a16:creationId xmlns:a16="http://schemas.microsoft.com/office/drawing/2014/main" id="{D2948EA3-526D-A540-7ED3-7815E35FA76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642400" y="993058"/>
            <a:ext cx="8996106" cy="3529781"/>
          </a:xfrm>
          <a:prstGeom prst="rect">
            <a:avLst/>
          </a:prstGeom>
        </p:spPr>
      </p:pic>
      <p:graphicFrame>
        <p:nvGraphicFramePr>
          <p:cNvPr id="6" name="Table 5">
            <a:extLst>
              <a:ext uri="{FF2B5EF4-FFF2-40B4-BE49-F238E27FC236}">
                <a16:creationId xmlns:a16="http://schemas.microsoft.com/office/drawing/2014/main" id="{7399561A-6E02-3C25-6E61-3574D7DE2162}"/>
              </a:ext>
            </a:extLst>
          </p:cNvPr>
          <p:cNvGraphicFramePr>
            <a:graphicFrameLocks noGrp="1"/>
          </p:cNvGraphicFramePr>
          <p:nvPr>
            <p:extLst>
              <p:ext uri="{D42A27DB-BD31-4B8C-83A1-F6EECF244321}">
                <p14:modId xmlns:p14="http://schemas.microsoft.com/office/powerpoint/2010/main" val="876906682"/>
              </p:ext>
            </p:extLst>
          </p:nvPr>
        </p:nvGraphicFramePr>
        <p:xfrm>
          <a:off x="698500" y="4627718"/>
          <a:ext cx="10795000" cy="1803400"/>
        </p:xfrm>
        <a:graphic>
          <a:graphicData uri="http://schemas.openxmlformats.org/drawingml/2006/table">
            <a:tbl>
              <a:tblPr firstRow="1" bandRow="1">
                <a:tableStyleId>{5C22544A-7EE6-4342-B048-85BDC9FD1C3A}</a:tableStyleId>
              </a:tblPr>
              <a:tblGrid>
                <a:gridCol w="1397000">
                  <a:extLst>
                    <a:ext uri="{9D8B030D-6E8A-4147-A177-3AD203B41FA5}">
                      <a16:colId xmlns:a16="http://schemas.microsoft.com/office/drawing/2014/main" val="1921378339"/>
                    </a:ext>
                  </a:extLst>
                </a:gridCol>
                <a:gridCol w="1079500">
                  <a:extLst>
                    <a:ext uri="{9D8B030D-6E8A-4147-A177-3AD203B41FA5}">
                      <a16:colId xmlns:a16="http://schemas.microsoft.com/office/drawing/2014/main" val="2142929942"/>
                    </a:ext>
                  </a:extLst>
                </a:gridCol>
                <a:gridCol w="1206500">
                  <a:extLst>
                    <a:ext uri="{9D8B030D-6E8A-4147-A177-3AD203B41FA5}">
                      <a16:colId xmlns:a16="http://schemas.microsoft.com/office/drawing/2014/main" val="1583024646"/>
                    </a:ext>
                  </a:extLst>
                </a:gridCol>
                <a:gridCol w="1206500">
                  <a:extLst>
                    <a:ext uri="{9D8B030D-6E8A-4147-A177-3AD203B41FA5}">
                      <a16:colId xmlns:a16="http://schemas.microsoft.com/office/drawing/2014/main" val="1266011811"/>
                    </a:ext>
                  </a:extLst>
                </a:gridCol>
                <a:gridCol w="1460500">
                  <a:extLst>
                    <a:ext uri="{9D8B030D-6E8A-4147-A177-3AD203B41FA5}">
                      <a16:colId xmlns:a16="http://schemas.microsoft.com/office/drawing/2014/main" val="2828281018"/>
                    </a:ext>
                  </a:extLst>
                </a:gridCol>
                <a:gridCol w="1397000">
                  <a:extLst>
                    <a:ext uri="{9D8B030D-6E8A-4147-A177-3AD203B41FA5}">
                      <a16:colId xmlns:a16="http://schemas.microsoft.com/office/drawing/2014/main" val="4189022227"/>
                    </a:ext>
                  </a:extLst>
                </a:gridCol>
                <a:gridCol w="1270000">
                  <a:extLst>
                    <a:ext uri="{9D8B030D-6E8A-4147-A177-3AD203B41FA5}">
                      <a16:colId xmlns:a16="http://schemas.microsoft.com/office/drawing/2014/main" val="2575254028"/>
                    </a:ext>
                  </a:extLst>
                </a:gridCol>
                <a:gridCol w="1778000">
                  <a:extLst>
                    <a:ext uri="{9D8B030D-6E8A-4147-A177-3AD203B41FA5}">
                      <a16:colId xmlns:a16="http://schemas.microsoft.com/office/drawing/2014/main" val="4198607825"/>
                    </a:ext>
                  </a:extLst>
                </a:gridCol>
              </a:tblGrid>
              <a:tr h="360680">
                <a:tc>
                  <a:txBody>
                    <a:bodyPr/>
                    <a:lstStyle/>
                    <a:p>
                      <a:pPr algn="ctr"/>
                      <a:r>
                        <a:rPr lang="en-US" sz="1000" b="1">
                          <a:solidFill>
                            <a:srgbClr val="FFFFFF"/>
                          </a:solidFill>
                          <a:latin typeface="Aptos" panose="020B0004020202020204" pitchFamily="34" charset="0"/>
                        </a:rPr>
                        <a:t>Mesh Level</a:t>
                      </a:r>
                    </a:p>
                  </a:txBody>
                  <a:tcPr>
                    <a:solidFill>
                      <a:srgbClr val="4169E1"/>
                    </a:solidFill>
                  </a:tcPr>
                </a:tc>
                <a:tc>
                  <a:txBody>
                    <a:bodyPr/>
                    <a:lstStyle/>
                    <a:p>
                      <a:pPr algn="ctr"/>
                      <a:r>
                        <a:rPr lang="en-US" sz="1000" b="1">
                          <a:solidFill>
                            <a:srgbClr val="FFFFFF"/>
                          </a:solidFill>
                          <a:latin typeface="Aptos" panose="020B0004020202020204" pitchFamily="34" charset="0"/>
                        </a:rPr>
                        <a:t>Seed (mm)</a:t>
                      </a:r>
                    </a:p>
                  </a:txBody>
                  <a:tcPr>
                    <a:solidFill>
                      <a:srgbClr val="4169E1"/>
                    </a:solidFill>
                  </a:tcPr>
                </a:tc>
                <a:tc>
                  <a:txBody>
                    <a:bodyPr/>
                    <a:lstStyle/>
                    <a:p>
                      <a:pPr algn="ctr"/>
                      <a:r>
                        <a:rPr lang="en-US" sz="1000" b="1">
                          <a:solidFill>
                            <a:srgbClr val="FFFFFF"/>
                          </a:solidFill>
                          <a:latin typeface="Aptos" panose="020B0004020202020204" pitchFamily="34" charset="0"/>
                        </a:rPr>
                        <a:t>Elements</a:t>
                      </a:r>
                    </a:p>
                  </a:txBody>
                  <a:tcPr>
                    <a:solidFill>
                      <a:srgbClr val="4169E1"/>
                    </a:solidFill>
                  </a:tcPr>
                </a:tc>
                <a:tc>
                  <a:txBody>
                    <a:bodyPr/>
                    <a:lstStyle/>
                    <a:p>
                      <a:pPr algn="ctr"/>
                      <a:r>
                        <a:rPr lang="en-US" sz="1000" b="1">
                          <a:solidFill>
                            <a:srgbClr val="FFFFFF"/>
                          </a:solidFill>
                          <a:latin typeface="Aptos" panose="020B0004020202020204" pitchFamily="34" charset="0"/>
                        </a:rPr>
                        <a:t>Nodes</a:t>
                      </a:r>
                    </a:p>
                  </a:txBody>
                  <a:tcPr>
                    <a:solidFill>
                      <a:srgbClr val="4169E1"/>
                    </a:solidFill>
                  </a:tcPr>
                </a:tc>
                <a:tc>
                  <a:txBody>
                    <a:bodyPr/>
                    <a:lstStyle/>
                    <a:p>
                      <a:pPr algn="ctr"/>
                      <a:r>
                        <a:rPr lang="en-US" sz="1000" b="1">
                          <a:solidFill>
                            <a:srgbClr val="FFFFFF"/>
                          </a:solidFill>
                          <a:latin typeface="Aptos" panose="020B0004020202020204" pitchFamily="34" charset="0"/>
                        </a:rPr>
                        <a:t>Peak </a:t>
                      </a:r>
                      <a:r>
                        <a:rPr lang="el-GR" sz="1000" b="1">
                          <a:solidFill>
                            <a:srgbClr val="FFFFFF"/>
                          </a:solidFill>
                          <a:latin typeface="Aptos" panose="020B0004020202020204" pitchFamily="34" charset="0"/>
                        </a:rPr>
                        <a:t>σ_</a:t>
                      </a:r>
                      <a:r>
                        <a:rPr lang="en-US" sz="1000" b="1">
                          <a:solidFill>
                            <a:srgbClr val="FFFFFF"/>
                          </a:solidFill>
                          <a:latin typeface="Aptos" panose="020B0004020202020204" pitchFamily="34" charset="0"/>
                        </a:rPr>
                        <a:t>vM (MPa)</a:t>
                      </a:r>
                    </a:p>
                  </a:txBody>
                  <a:tcPr>
                    <a:solidFill>
                      <a:srgbClr val="4169E1"/>
                    </a:solidFill>
                  </a:tcPr>
                </a:tc>
                <a:tc>
                  <a:txBody>
                    <a:bodyPr/>
                    <a:lstStyle/>
                    <a:p>
                      <a:pPr algn="ctr"/>
                      <a:r>
                        <a:rPr lang="en-US" sz="1000" b="1">
                          <a:solidFill>
                            <a:srgbClr val="FFFFFF"/>
                          </a:solidFill>
                          <a:latin typeface="Aptos" panose="020B0004020202020204" pitchFamily="34" charset="0"/>
                        </a:rPr>
                        <a:t>Peak Disp (mm)</a:t>
                      </a:r>
                    </a:p>
                  </a:txBody>
                  <a:tcPr>
                    <a:solidFill>
                      <a:srgbClr val="4169E1"/>
                    </a:solidFill>
                  </a:tcPr>
                </a:tc>
                <a:tc>
                  <a:txBody>
                    <a:bodyPr/>
                    <a:lstStyle/>
                    <a:p>
                      <a:pPr algn="ctr"/>
                      <a:r>
                        <a:rPr lang="en-US" sz="1000" b="1">
                          <a:solidFill>
                            <a:srgbClr val="FFFFFF"/>
                          </a:solidFill>
                          <a:latin typeface="Aptos" panose="020B0004020202020204" pitchFamily="34" charset="0"/>
                        </a:rPr>
                        <a:t>Stress </a:t>
                      </a:r>
                      <a:r>
                        <a:rPr lang="el-GR" sz="1000" b="1">
                          <a:solidFill>
                            <a:srgbClr val="FFFFFF"/>
                          </a:solidFill>
                          <a:latin typeface="Aptos" panose="020B0004020202020204" pitchFamily="34" charset="0"/>
                        </a:rPr>
                        <a:t>Δ (%)</a:t>
                      </a:r>
                      <a:endParaRPr lang="en-US" sz="1000" b="1">
                        <a:solidFill>
                          <a:srgbClr val="FFFFFF"/>
                        </a:solidFill>
                        <a:latin typeface="Aptos" panose="020B0004020202020204" pitchFamily="34" charset="0"/>
                      </a:endParaRPr>
                    </a:p>
                  </a:txBody>
                  <a:tcPr>
                    <a:solidFill>
                      <a:srgbClr val="4169E1"/>
                    </a:solidFill>
                  </a:tcPr>
                </a:tc>
                <a:tc>
                  <a:txBody>
                    <a:bodyPr/>
                    <a:lstStyle/>
                    <a:p>
                      <a:pPr algn="ctr"/>
                      <a:r>
                        <a:rPr lang="en-US" sz="1000" b="1">
                          <a:solidFill>
                            <a:srgbClr val="FFFFFF"/>
                          </a:solidFill>
                          <a:latin typeface="Aptos" panose="020B0004020202020204" pitchFamily="34" charset="0"/>
                        </a:rPr>
                        <a:t>Status</a:t>
                      </a:r>
                    </a:p>
                  </a:txBody>
                  <a:tcPr>
                    <a:solidFill>
                      <a:srgbClr val="4169E1"/>
                    </a:solidFill>
                  </a:tcPr>
                </a:tc>
                <a:extLst>
                  <a:ext uri="{0D108BD9-81ED-4DB2-BD59-A6C34878D82A}">
                    <a16:rowId xmlns:a16="http://schemas.microsoft.com/office/drawing/2014/main" val="578997829"/>
                  </a:ext>
                </a:extLst>
              </a:tr>
              <a:tr h="360680">
                <a:tc>
                  <a:txBody>
                    <a:bodyPr/>
                    <a:lstStyle/>
                    <a:p>
                      <a:pPr algn="ctr"/>
                      <a:r>
                        <a:rPr lang="en-US" sz="1000" b="0">
                          <a:solidFill>
                            <a:srgbClr val="19232D"/>
                          </a:solidFill>
                          <a:latin typeface="Aptos" panose="020B0004020202020204" pitchFamily="34" charset="0"/>
                        </a:rPr>
                        <a:t>Mesh 0</a:t>
                      </a:r>
                    </a:p>
                  </a:txBody>
                  <a:tcPr>
                    <a:solidFill>
                      <a:srgbClr val="FFFFFF"/>
                    </a:solidFill>
                  </a:tcPr>
                </a:tc>
                <a:tc>
                  <a:txBody>
                    <a:bodyPr/>
                    <a:lstStyle/>
                    <a:p>
                      <a:pPr algn="ctr"/>
                      <a:r>
                        <a:rPr lang="en-US" sz="1000" b="0">
                          <a:solidFill>
                            <a:srgbClr val="19232D"/>
                          </a:solidFill>
                          <a:latin typeface="Aptos" panose="020B0004020202020204" pitchFamily="34" charset="0"/>
                        </a:rPr>
                        <a:t>20.0</a:t>
                      </a:r>
                    </a:p>
                  </a:txBody>
                  <a:tcPr>
                    <a:solidFill>
                      <a:srgbClr val="FFFFFF"/>
                    </a:solidFill>
                  </a:tcPr>
                </a:tc>
                <a:tc>
                  <a:txBody>
                    <a:bodyPr/>
                    <a:lstStyle/>
                    <a:p>
                      <a:pPr algn="ctr"/>
                      <a:r>
                        <a:rPr lang="en-US" sz="1000" b="0">
                          <a:solidFill>
                            <a:srgbClr val="19232D"/>
                          </a:solidFill>
                          <a:latin typeface="Aptos" panose="020B0004020202020204" pitchFamily="34" charset="0"/>
                        </a:rPr>
                        <a:t>81,952</a:t>
                      </a:r>
                    </a:p>
                  </a:txBody>
                  <a:tcPr>
                    <a:solidFill>
                      <a:srgbClr val="FFFFFF"/>
                    </a:solidFill>
                  </a:tcPr>
                </a:tc>
                <a:tc>
                  <a:txBody>
                    <a:bodyPr/>
                    <a:lstStyle/>
                    <a:p>
                      <a:pPr algn="ctr"/>
                      <a:r>
                        <a:rPr lang="en-US" sz="1000" b="0">
                          <a:solidFill>
                            <a:srgbClr val="19232D"/>
                          </a:solidFill>
                          <a:latin typeface="Aptos" panose="020B0004020202020204" pitchFamily="34" charset="0"/>
                        </a:rPr>
                        <a:t>126,065</a:t>
                      </a:r>
                    </a:p>
                  </a:txBody>
                  <a:tcPr>
                    <a:solidFill>
                      <a:srgbClr val="FFFFFF"/>
                    </a:solidFill>
                  </a:tcPr>
                </a:tc>
                <a:tc>
                  <a:txBody>
                    <a:bodyPr/>
                    <a:lstStyle/>
                    <a:p>
                      <a:pPr algn="ctr"/>
                      <a:r>
                        <a:rPr lang="en-US" sz="1000" b="0">
                          <a:solidFill>
                            <a:srgbClr val="19232D"/>
                          </a:solidFill>
                          <a:latin typeface="Aptos" panose="020B0004020202020204" pitchFamily="34" charset="0"/>
                        </a:rPr>
                        <a:t>56.11</a:t>
                      </a:r>
                    </a:p>
                  </a:txBody>
                  <a:tcPr>
                    <a:solidFill>
                      <a:srgbClr val="FFFFFF"/>
                    </a:solidFill>
                  </a:tcPr>
                </a:tc>
                <a:tc>
                  <a:txBody>
                    <a:bodyPr/>
                    <a:lstStyle/>
                    <a:p>
                      <a:pPr algn="ctr"/>
                      <a:r>
                        <a:rPr lang="en-US" sz="1000" b="0">
                          <a:solidFill>
                            <a:srgbClr val="19232D"/>
                          </a:solidFill>
                          <a:latin typeface="Aptos" panose="020B0004020202020204" pitchFamily="34" charset="0"/>
                        </a:rPr>
                        <a:t>0.0117</a:t>
                      </a:r>
                    </a:p>
                  </a:txBody>
                  <a:tcPr>
                    <a:solidFill>
                      <a:srgbClr val="FFFFFF"/>
                    </a:solidFill>
                  </a:tcPr>
                </a:tc>
                <a:tc>
                  <a:txBody>
                    <a:bodyPr/>
                    <a:lstStyle/>
                    <a:p>
                      <a:pPr algn="ctr"/>
                      <a:r>
                        <a:rPr lang="en-US" sz="1000" b="0">
                          <a:solidFill>
                            <a:srgbClr val="19232D"/>
                          </a:solidFill>
                          <a:latin typeface="Aptos" panose="020B0004020202020204" pitchFamily="34" charset="0"/>
                        </a:rPr>
                        <a:t>Baseline</a:t>
                      </a:r>
                    </a:p>
                  </a:txBody>
                  <a:tcPr>
                    <a:solidFill>
                      <a:srgbClr val="FFFFFF"/>
                    </a:solidFill>
                  </a:tcPr>
                </a:tc>
                <a:tc>
                  <a:txBody>
                    <a:bodyPr/>
                    <a:lstStyle/>
                    <a:p>
                      <a:pPr algn="ctr"/>
                      <a:r>
                        <a:rPr lang="en-US" sz="1000" b="0">
                          <a:solidFill>
                            <a:srgbClr val="19232D"/>
                          </a:solidFill>
                          <a:latin typeface="Aptos" panose="020B0004020202020204" pitchFamily="34" charset="0"/>
                        </a:rPr>
                        <a:t>Initial Coarse</a:t>
                      </a:r>
                    </a:p>
                  </a:txBody>
                  <a:tcPr>
                    <a:solidFill>
                      <a:srgbClr val="FFFFFF"/>
                    </a:solidFill>
                  </a:tcPr>
                </a:tc>
                <a:extLst>
                  <a:ext uri="{0D108BD9-81ED-4DB2-BD59-A6C34878D82A}">
                    <a16:rowId xmlns:a16="http://schemas.microsoft.com/office/drawing/2014/main" val="167795925"/>
                  </a:ext>
                </a:extLst>
              </a:tr>
              <a:tr h="360680">
                <a:tc>
                  <a:txBody>
                    <a:bodyPr/>
                    <a:lstStyle/>
                    <a:p>
                      <a:pPr algn="ctr"/>
                      <a:r>
                        <a:rPr lang="en-US" sz="1000" b="0">
                          <a:solidFill>
                            <a:srgbClr val="19232D"/>
                          </a:solidFill>
                          <a:latin typeface="Aptos" panose="020B0004020202020204" pitchFamily="34" charset="0"/>
                        </a:rPr>
                        <a:t>Mesh 1</a:t>
                      </a:r>
                    </a:p>
                  </a:txBody>
                  <a:tcPr>
                    <a:solidFill>
                      <a:srgbClr val="F8FAFD"/>
                    </a:solidFill>
                  </a:tcPr>
                </a:tc>
                <a:tc>
                  <a:txBody>
                    <a:bodyPr/>
                    <a:lstStyle/>
                    <a:p>
                      <a:pPr algn="ctr"/>
                      <a:r>
                        <a:rPr lang="en-US" sz="1000" b="0">
                          <a:solidFill>
                            <a:srgbClr val="19232D"/>
                          </a:solidFill>
                          <a:latin typeface="Aptos" panose="020B0004020202020204" pitchFamily="34" charset="0"/>
                        </a:rPr>
                        <a:t>16.0</a:t>
                      </a:r>
                    </a:p>
                  </a:txBody>
                  <a:tcPr>
                    <a:solidFill>
                      <a:srgbClr val="F8FAFD"/>
                    </a:solidFill>
                  </a:tcPr>
                </a:tc>
                <a:tc>
                  <a:txBody>
                    <a:bodyPr/>
                    <a:lstStyle/>
                    <a:p>
                      <a:pPr algn="ctr"/>
                      <a:r>
                        <a:rPr lang="en-US" sz="1000" b="0">
                          <a:solidFill>
                            <a:srgbClr val="19232D"/>
                          </a:solidFill>
                          <a:latin typeface="Aptos" panose="020B0004020202020204" pitchFamily="34" charset="0"/>
                        </a:rPr>
                        <a:t>91,707</a:t>
                      </a:r>
                    </a:p>
                  </a:txBody>
                  <a:tcPr>
                    <a:solidFill>
                      <a:srgbClr val="F8FAFD"/>
                    </a:solidFill>
                  </a:tcPr>
                </a:tc>
                <a:tc>
                  <a:txBody>
                    <a:bodyPr/>
                    <a:lstStyle/>
                    <a:p>
                      <a:pPr algn="ctr"/>
                      <a:r>
                        <a:rPr lang="en-US" sz="1000" b="0">
                          <a:solidFill>
                            <a:srgbClr val="19232D"/>
                          </a:solidFill>
                          <a:latin typeface="Aptos" panose="020B0004020202020204" pitchFamily="34" charset="0"/>
                        </a:rPr>
                        <a:t>140,518</a:t>
                      </a:r>
                    </a:p>
                  </a:txBody>
                  <a:tcPr>
                    <a:solidFill>
                      <a:srgbClr val="F8FAFD"/>
                    </a:solidFill>
                  </a:tcPr>
                </a:tc>
                <a:tc>
                  <a:txBody>
                    <a:bodyPr/>
                    <a:lstStyle/>
                    <a:p>
                      <a:pPr algn="ctr"/>
                      <a:r>
                        <a:rPr lang="en-US" sz="1000" b="0">
                          <a:solidFill>
                            <a:srgbClr val="19232D"/>
                          </a:solidFill>
                          <a:latin typeface="Aptos" panose="020B0004020202020204" pitchFamily="34" charset="0"/>
                        </a:rPr>
                        <a:t>42.50</a:t>
                      </a:r>
                    </a:p>
                  </a:txBody>
                  <a:tcPr>
                    <a:solidFill>
                      <a:srgbClr val="F8FAFD"/>
                    </a:solidFill>
                  </a:tcPr>
                </a:tc>
                <a:tc>
                  <a:txBody>
                    <a:bodyPr/>
                    <a:lstStyle/>
                    <a:p>
                      <a:pPr algn="ctr"/>
                      <a:r>
                        <a:rPr lang="en-US" sz="1000" b="0">
                          <a:solidFill>
                            <a:srgbClr val="19232D"/>
                          </a:solidFill>
                          <a:latin typeface="Aptos" panose="020B0004020202020204" pitchFamily="34" charset="0"/>
                        </a:rPr>
                        <a:t>0.0111</a:t>
                      </a:r>
                    </a:p>
                  </a:txBody>
                  <a:tcPr>
                    <a:solidFill>
                      <a:srgbClr val="F8FAFD"/>
                    </a:solidFill>
                  </a:tcPr>
                </a:tc>
                <a:tc>
                  <a:txBody>
                    <a:bodyPr/>
                    <a:lstStyle/>
                    <a:p>
                      <a:pPr algn="ctr"/>
                      <a:r>
                        <a:rPr lang="en-US" sz="1000" b="0">
                          <a:solidFill>
                            <a:srgbClr val="19232D"/>
                          </a:solidFill>
                          <a:latin typeface="Aptos" panose="020B0004020202020204" pitchFamily="34" charset="0"/>
                        </a:rPr>
                        <a:t>32.02%</a:t>
                      </a:r>
                    </a:p>
                  </a:txBody>
                  <a:tcPr>
                    <a:solidFill>
                      <a:srgbClr val="F8FAFD"/>
                    </a:solidFill>
                  </a:tcPr>
                </a:tc>
                <a:tc>
                  <a:txBody>
                    <a:bodyPr/>
                    <a:lstStyle/>
                    <a:p>
                      <a:pPr algn="ctr"/>
                      <a:r>
                        <a:rPr lang="en-US" sz="1000" b="0">
                          <a:solidFill>
                            <a:srgbClr val="19232D"/>
                          </a:solidFill>
                          <a:latin typeface="Aptos" panose="020B0004020202020204" pitchFamily="34" charset="0"/>
                        </a:rPr>
                        <a:t>Intermediate</a:t>
                      </a:r>
                    </a:p>
                  </a:txBody>
                  <a:tcPr>
                    <a:solidFill>
                      <a:srgbClr val="F8FAFD"/>
                    </a:solidFill>
                  </a:tcPr>
                </a:tc>
                <a:extLst>
                  <a:ext uri="{0D108BD9-81ED-4DB2-BD59-A6C34878D82A}">
                    <a16:rowId xmlns:a16="http://schemas.microsoft.com/office/drawing/2014/main" val="1474126881"/>
                  </a:ext>
                </a:extLst>
              </a:tr>
              <a:tr h="360680">
                <a:tc>
                  <a:txBody>
                    <a:bodyPr/>
                    <a:lstStyle/>
                    <a:p>
                      <a:pPr algn="ctr"/>
                      <a:r>
                        <a:rPr lang="en-US" sz="1000" b="0">
                          <a:solidFill>
                            <a:srgbClr val="19232D"/>
                          </a:solidFill>
                          <a:latin typeface="Aptos" panose="020B0004020202020204" pitchFamily="34" charset="0"/>
                        </a:rPr>
                        <a:t>Mesh 2</a:t>
                      </a:r>
                    </a:p>
                  </a:txBody>
                  <a:tcPr>
                    <a:solidFill>
                      <a:srgbClr val="FFFFFF"/>
                    </a:solidFill>
                  </a:tcPr>
                </a:tc>
                <a:tc>
                  <a:txBody>
                    <a:bodyPr/>
                    <a:lstStyle/>
                    <a:p>
                      <a:pPr algn="ctr"/>
                      <a:r>
                        <a:rPr lang="en-US" sz="1000" b="0">
                          <a:solidFill>
                            <a:srgbClr val="19232D"/>
                          </a:solidFill>
                          <a:latin typeface="Aptos" panose="020B0004020202020204" pitchFamily="34" charset="0"/>
                        </a:rPr>
                        <a:t>12.0</a:t>
                      </a:r>
                    </a:p>
                  </a:txBody>
                  <a:tcPr>
                    <a:solidFill>
                      <a:srgbClr val="FFFFFF"/>
                    </a:solidFill>
                  </a:tcPr>
                </a:tc>
                <a:tc>
                  <a:txBody>
                    <a:bodyPr/>
                    <a:lstStyle/>
                    <a:p>
                      <a:pPr algn="ctr"/>
                      <a:r>
                        <a:rPr lang="en-US" sz="1000" b="0">
                          <a:solidFill>
                            <a:srgbClr val="19232D"/>
                          </a:solidFill>
                          <a:latin typeface="Aptos" panose="020B0004020202020204" pitchFamily="34" charset="0"/>
                        </a:rPr>
                        <a:t>102,134</a:t>
                      </a:r>
                    </a:p>
                  </a:txBody>
                  <a:tcPr>
                    <a:solidFill>
                      <a:srgbClr val="FFFFFF"/>
                    </a:solidFill>
                  </a:tcPr>
                </a:tc>
                <a:tc>
                  <a:txBody>
                    <a:bodyPr/>
                    <a:lstStyle/>
                    <a:p>
                      <a:pPr algn="ctr"/>
                      <a:r>
                        <a:rPr lang="en-US" sz="1000" b="0">
                          <a:solidFill>
                            <a:srgbClr val="19232D"/>
                          </a:solidFill>
                          <a:latin typeface="Aptos" panose="020B0004020202020204" pitchFamily="34" charset="0"/>
                        </a:rPr>
                        <a:t>156,966</a:t>
                      </a:r>
                    </a:p>
                  </a:txBody>
                  <a:tcPr>
                    <a:solidFill>
                      <a:srgbClr val="FFFFFF"/>
                    </a:solidFill>
                  </a:tcPr>
                </a:tc>
                <a:tc>
                  <a:txBody>
                    <a:bodyPr/>
                    <a:lstStyle/>
                    <a:p>
                      <a:pPr algn="ctr"/>
                      <a:r>
                        <a:rPr lang="en-US" sz="1000" b="0">
                          <a:solidFill>
                            <a:srgbClr val="19232D"/>
                          </a:solidFill>
                          <a:latin typeface="Aptos" panose="020B0004020202020204" pitchFamily="34" charset="0"/>
                        </a:rPr>
                        <a:t>42.04</a:t>
                      </a:r>
                    </a:p>
                  </a:txBody>
                  <a:tcPr>
                    <a:solidFill>
                      <a:srgbClr val="FFFFFF"/>
                    </a:solidFill>
                  </a:tcPr>
                </a:tc>
                <a:tc>
                  <a:txBody>
                    <a:bodyPr/>
                    <a:lstStyle/>
                    <a:p>
                      <a:pPr algn="ctr"/>
                      <a:r>
                        <a:rPr lang="en-US" sz="1000" b="0">
                          <a:solidFill>
                            <a:srgbClr val="19232D"/>
                          </a:solidFill>
                          <a:latin typeface="Aptos" panose="020B0004020202020204" pitchFamily="34" charset="0"/>
                        </a:rPr>
                        <a:t>0.0116</a:t>
                      </a:r>
                    </a:p>
                  </a:txBody>
                  <a:tcPr>
                    <a:solidFill>
                      <a:srgbClr val="FFFFFF"/>
                    </a:solidFill>
                  </a:tcPr>
                </a:tc>
                <a:tc>
                  <a:txBody>
                    <a:bodyPr/>
                    <a:lstStyle/>
                    <a:p>
                      <a:pPr algn="ctr"/>
                      <a:r>
                        <a:rPr lang="en-US" sz="1000" b="0">
                          <a:solidFill>
                            <a:srgbClr val="19232D"/>
                          </a:solidFill>
                          <a:latin typeface="Aptos" panose="020B0004020202020204" pitchFamily="34" charset="0"/>
                        </a:rPr>
                        <a:t>1.09%</a:t>
                      </a:r>
                    </a:p>
                  </a:txBody>
                  <a:tcPr>
                    <a:solidFill>
                      <a:srgbClr val="FFFFFF"/>
                    </a:solidFill>
                  </a:tcPr>
                </a:tc>
                <a:tc>
                  <a:txBody>
                    <a:bodyPr/>
                    <a:lstStyle/>
                    <a:p>
                      <a:pPr algn="ctr"/>
                      <a:r>
                        <a:rPr lang="en-US" sz="1000" b="0">
                          <a:solidFill>
                            <a:srgbClr val="19232D"/>
                          </a:solidFill>
                          <a:latin typeface="Aptos" panose="020B0004020202020204" pitchFamily="34" charset="0"/>
                        </a:rPr>
                        <a:t>Converged (&lt;1.1%)</a:t>
                      </a:r>
                    </a:p>
                  </a:txBody>
                  <a:tcPr>
                    <a:solidFill>
                      <a:srgbClr val="FFFFFF"/>
                    </a:solidFill>
                  </a:tcPr>
                </a:tc>
                <a:extLst>
                  <a:ext uri="{0D108BD9-81ED-4DB2-BD59-A6C34878D82A}">
                    <a16:rowId xmlns:a16="http://schemas.microsoft.com/office/drawing/2014/main" val="1065318195"/>
                  </a:ext>
                </a:extLst>
              </a:tr>
              <a:tr h="360680">
                <a:tc>
                  <a:txBody>
                    <a:bodyPr/>
                    <a:lstStyle/>
                    <a:p>
                      <a:pPr algn="ctr"/>
                      <a:r>
                        <a:rPr lang="en-US" sz="1000" b="1">
                          <a:solidFill>
                            <a:srgbClr val="143CA0"/>
                          </a:solidFill>
                          <a:latin typeface="Aptos" panose="020B0004020202020204" pitchFamily="34" charset="0"/>
                        </a:rPr>
                        <a:t>Mesh 3 (★)</a:t>
                      </a:r>
                    </a:p>
                  </a:txBody>
                  <a:tcPr>
                    <a:solidFill>
                      <a:srgbClr val="EBF5FF"/>
                    </a:solidFill>
                  </a:tcPr>
                </a:tc>
                <a:tc>
                  <a:txBody>
                    <a:bodyPr/>
                    <a:lstStyle/>
                    <a:p>
                      <a:pPr algn="ctr"/>
                      <a:r>
                        <a:rPr lang="en-US" sz="1000" b="1">
                          <a:solidFill>
                            <a:srgbClr val="143CA0"/>
                          </a:solidFill>
                          <a:latin typeface="Aptos" panose="020B0004020202020204" pitchFamily="34" charset="0"/>
                        </a:rPr>
                        <a:t>9.0</a:t>
                      </a:r>
                    </a:p>
                  </a:txBody>
                  <a:tcPr>
                    <a:solidFill>
                      <a:srgbClr val="EBF5FF"/>
                    </a:solidFill>
                  </a:tcPr>
                </a:tc>
                <a:tc>
                  <a:txBody>
                    <a:bodyPr/>
                    <a:lstStyle/>
                    <a:p>
                      <a:pPr algn="ctr"/>
                      <a:r>
                        <a:rPr lang="en-US" sz="1000" b="1">
                          <a:solidFill>
                            <a:srgbClr val="143CA0"/>
                          </a:solidFill>
                          <a:latin typeface="Aptos" panose="020B0004020202020204" pitchFamily="34" charset="0"/>
                        </a:rPr>
                        <a:t>113,902</a:t>
                      </a:r>
                    </a:p>
                  </a:txBody>
                  <a:tcPr>
                    <a:solidFill>
                      <a:srgbClr val="EBF5FF"/>
                    </a:solidFill>
                  </a:tcPr>
                </a:tc>
                <a:tc>
                  <a:txBody>
                    <a:bodyPr/>
                    <a:lstStyle/>
                    <a:p>
                      <a:pPr algn="ctr"/>
                      <a:r>
                        <a:rPr lang="en-US" sz="1000" b="1">
                          <a:solidFill>
                            <a:srgbClr val="143CA0"/>
                          </a:solidFill>
                          <a:latin typeface="Aptos" panose="020B0004020202020204" pitchFamily="34" charset="0"/>
                        </a:rPr>
                        <a:t>174,807</a:t>
                      </a:r>
                    </a:p>
                  </a:txBody>
                  <a:tcPr>
                    <a:solidFill>
                      <a:srgbClr val="EBF5FF"/>
                    </a:solidFill>
                  </a:tcPr>
                </a:tc>
                <a:tc>
                  <a:txBody>
                    <a:bodyPr/>
                    <a:lstStyle/>
                    <a:p>
                      <a:pPr algn="ctr"/>
                      <a:r>
                        <a:rPr lang="en-US" sz="1000" b="1">
                          <a:solidFill>
                            <a:srgbClr val="143CA0"/>
                          </a:solidFill>
                          <a:latin typeface="Aptos" panose="020B0004020202020204" pitchFamily="34" charset="0"/>
                        </a:rPr>
                        <a:t>50.08</a:t>
                      </a:r>
                    </a:p>
                  </a:txBody>
                  <a:tcPr>
                    <a:solidFill>
                      <a:srgbClr val="EBF5FF"/>
                    </a:solidFill>
                  </a:tcPr>
                </a:tc>
                <a:tc>
                  <a:txBody>
                    <a:bodyPr/>
                    <a:lstStyle/>
                    <a:p>
                      <a:pPr algn="ctr"/>
                      <a:r>
                        <a:rPr lang="en-US" sz="1000" b="1">
                          <a:solidFill>
                            <a:srgbClr val="143CA0"/>
                          </a:solidFill>
                          <a:latin typeface="Aptos" panose="020B0004020202020204" pitchFamily="34" charset="0"/>
                        </a:rPr>
                        <a:t>0.0114</a:t>
                      </a:r>
                    </a:p>
                  </a:txBody>
                  <a:tcPr>
                    <a:solidFill>
                      <a:srgbClr val="EBF5FF"/>
                    </a:solidFill>
                  </a:tcPr>
                </a:tc>
                <a:tc>
                  <a:txBody>
                    <a:bodyPr/>
                    <a:lstStyle/>
                    <a:p>
                      <a:pPr algn="ctr"/>
                      <a:r>
                        <a:rPr lang="en-US" sz="1000" b="1">
                          <a:solidFill>
                            <a:srgbClr val="143CA0"/>
                          </a:solidFill>
                          <a:latin typeface="Aptos" panose="020B0004020202020204" pitchFamily="34" charset="0"/>
                        </a:rPr>
                        <a:t>Disp </a:t>
                      </a:r>
                      <a:r>
                        <a:rPr lang="el-GR" sz="1000" b="1">
                          <a:solidFill>
                            <a:srgbClr val="143CA0"/>
                          </a:solidFill>
                          <a:latin typeface="Aptos" panose="020B0004020202020204" pitchFamily="34" charset="0"/>
                        </a:rPr>
                        <a:t>Δ 1.75%</a:t>
                      </a:r>
                      <a:endParaRPr lang="en-US" sz="1000" b="1">
                        <a:solidFill>
                          <a:srgbClr val="143CA0"/>
                        </a:solidFill>
                        <a:latin typeface="Aptos" panose="020B0004020202020204" pitchFamily="34" charset="0"/>
                      </a:endParaRPr>
                    </a:p>
                  </a:txBody>
                  <a:tcPr>
                    <a:solidFill>
                      <a:srgbClr val="EBF5FF"/>
                    </a:solidFill>
                  </a:tcPr>
                </a:tc>
                <a:tc>
                  <a:txBody>
                    <a:bodyPr/>
                    <a:lstStyle/>
                    <a:p>
                      <a:pPr algn="ctr"/>
                      <a:r>
                        <a:rPr lang="en-US" sz="1000" b="1" dirty="0">
                          <a:solidFill>
                            <a:srgbClr val="143CA0"/>
                          </a:solidFill>
                          <a:latin typeface="Aptos" panose="020B0004020202020204" pitchFamily="34" charset="0"/>
                        </a:rPr>
                        <a:t>★ Primary Model</a:t>
                      </a:r>
                    </a:p>
                  </a:txBody>
                  <a:tcPr>
                    <a:solidFill>
                      <a:srgbClr val="EBF5FF"/>
                    </a:solidFill>
                  </a:tcPr>
                </a:tc>
                <a:extLst>
                  <a:ext uri="{0D108BD9-81ED-4DB2-BD59-A6C34878D82A}">
                    <a16:rowId xmlns:a16="http://schemas.microsoft.com/office/drawing/2014/main" val="4198407170"/>
                  </a:ext>
                </a:extLst>
              </a:tr>
            </a:tbl>
          </a:graphicData>
        </a:graphic>
      </p:graphicFrame>
    </p:spTree>
    <p:extLst>
      <p:ext uri="{BB962C8B-B14F-4D97-AF65-F5344CB8AC3E}">
        <p14:creationId xmlns:p14="http://schemas.microsoft.com/office/powerpoint/2010/main" val="1362812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859ECE-CB82-C8B1-D70D-1D850EC8B949}"/>
              </a:ext>
            </a:extLst>
          </p:cNvPr>
          <p:cNvSpPr>
            <a:spLocks noGrp="1"/>
          </p:cNvSpPr>
          <p:nvPr>
            <p:ph type="sldNum" sz="quarter" idx="12"/>
          </p:nvPr>
        </p:nvSpPr>
        <p:spPr/>
        <p:txBody>
          <a:bodyPr/>
          <a:lstStyle/>
          <a:p>
            <a:fld id="{780D6419-8A5C-4EF9-A2D6-5BBA12496091}" type="slidenum">
              <a:rPr lang="en-US" smtClean="0"/>
              <a:t>25</a:t>
            </a:fld>
            <a:endParaRPr lang="en-US"/>
          </a:p>
        </p:txBody>
      </p:sp>
      <p:sp>
        <p:nvSpPr>
          <p:cNvPr id="3" name="Rectangle: Rounded Corners 2">
            <a:extLst>
              <a:ext uri="{FF2B5EF4-FFF2-40B4-BE49-F238E27FC236}">
                <a16:creationId xmlns:a16="http://schemas.microsoft.com/office/drawing/2014/main" id="{799C09B3-FA2B-D58C-2BCF-DDE0CFB5A88B}"/>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Conclusions &amp; Engineering Recommendations</a:t>
            </a:r>
          </a:p>
        </p:txBody>
      </p:sp>
      <p:sp>
        <p:nvSpPr>
          <p:cNvPr id="4" name="Rectangle: Rounded Corners 3">
            <a:extLst>
              <a:ext uri="{FF2B5EF4-FFF2-40B4-BE49-F238E27FC236}">
                <a16:creationId xmlns:a16="http://schemas.microsoft.com/office/drawing/2014/main" id="{1B1B2872-649B-4103-E51F-DCFED90FFC6D}"/>
              </a:ext>
            </a:extLst>
          </p:cNvPr>
          <p:cNvSpPr/>
          <p:nvPr/>
        </p:nvSpPr>
        <p:spPr>
          <a:xfrm>
            <a:off x="939800" y="1553085"/>
            <a:ext cx="10414000" cy="1954573"/>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marL="342900" indent="-342900">
              <a:spcAft>
                <a:spcPts val="600"/>
              </a:spcAft>
              <a:buAutoNum type="arabicPeriod"/>
            </a:pPr>
            <a:r>
              <a:rPr lang="en-US" sz="1600" b="1" dirty="0">
                <a:solidFill>
                  <a:srgbClr val="143CA0"/>
                </a:solidFill>
                <a:latin typeface="Aptos" panose="020B0004020202020204" pitchFamily="34" charset="0"/>
              </a:rPr>
              <a:t>Structural Integrity &amp; Design Safet</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Operating Capacity: Under 494 </a:t>
            </a:r>
            <a:r>
              <a:rPr lang="en-US" sz="1300" b="1" dirty="0" err="1">
                <a:solidFill>
                  <a:schemeClr val="tx1"/>
                </a:solidFill>
                <a:latin typeface="Aptos" panose="020B0004020202020204" pitchFamily="34" charset="0"/>
              </a:rPr>
              <a:t>N·m</a:t>
            </a:r>
            <a:r>
              <a:rPr lang="en-US" sz="1300" b="1" dirty="0">
                <a:solidFill>
                  <a:schemeClr val="tx1"/>
                </a:solidFill>
                <a:latin typeface="Aptos" panose="020B0004020202020204" pitchFamily="34" charset="0"/>
              </a:rPr>
              <a:t> torque, peak contact stress is 50.08 MPa
Safety Margin: Stainless steel yield strength is Sy ≈ 250 MPa, giving a Factor of Safety SF ≈ 5.0
Pure Elastic Operation: PEEQ = 0.000 confirms zero plastic degradation occurs under rated torque
Bending Endurance: Tooth root fillet stresses remain well below fatigue endurance limit</a:t>
            </a:r>
          </a:p>
        </p:txBody>
      </p:sp>
      <p:sp>
        <p:nvSpPr>
          <p:cNvPr id="5" name="Rectangle: Rounded Corners 4">
            <a:extLst>
              <a:ext uri="{FF2B5EF4-FFF2-40B4-BE49-F238E27FC236}">
                <a16:creationId xmlns:a16="http://schemas.microsoft.com/office/drawing/2014/main" id="{E7C86B49-6B43-D1FE-564C-EA57F975B783}"/>
              </a:ext>
            </a:extLst>
          </p:cNvPr>
          <p:cNvSpPr/>
          <p:nvPr/>
        </p:nvSpPr>
        <p:spPr>
          <a:xfrm>
            <a:off x="939800" y="3789614"/>
            <a:ext cx="10414000" cy="1954573"/>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200"/>
              </a:spcAft>
            </a:pPr>
            <a:r>
              <a:rPr lang="en-US" sz="1600" b="1" dirty="0">
                <a:solidFill>
                  <a:srgbClr val="143CA0"/>
                </a:solidFill>
                <a:latin typeface="Aptos" panose="020B0004020202020204" pitchFamily="34" charset="0"/>
              </a:rPr>
              <a:t>2. High-Fidelity Contact &amp; Kinematic Coupling</a:t>
            </a: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General Contact Formulation: Successfully eliminated manual master-slave pair pairing and surface interpenetration
Penalty Friction (μ = 0.15): Provided realistic sliding friction resistance without numerical convergence failure
Kinematic Shaft Couplings: Distributed driving torque smoothly across inner bores without localized stress peaks
Displacement Stability: Total gear deflection limited to 0.0114 mm (11.4 μm), preserving proper gear meshing</a:t>
            </a:r>
          </a:p>
        </p:txBody>
      </p:sp>
    </p:spTree>
    <p:extLst>
      <p:ext uri="{BB962C8B-B14F-4D97-AF65-F5344CB8AC3E}">
        <p14:creationId xmlns:p14="http://schemas.microsoft.com/office/powerpoint/2010/main" val="3356362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B8B14-93FE-B8F1-3940-34D9EA53F87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F85E4D-9AD7-4B1C-F6A1-6A8B817461C5}"/>
              </a:ext>
            </a:extLst>
          </p:cNvPr>
          <p:cNvSpPr>
            <a:spLocks noGrp="1"/>
          </p:cNvSpPr>
          <p:nvPr>
            <p:ph type="sldNum" sz="quarter" idx="12"/>
          </p:nvPr>
        </p:nvSpPr>
        <p:spPr/>
        <p:txBody>
          <a:bodyPr/>
          <a:lstStyle/>
          <a:p>
            <a:fld id="{780D6419-8A5C-4EF9-A2D6-5BBA12496091}" type="slidenum">
              <a:rPr lang="en-US" smtClean="0"/>
              <a:t>26</a:t>
            </a:fld>
            <a:endParaRPr lang="en-US"/>
          </a:p>
        </p:txBody>
      </p:sp>
      <p:sp>
        <p:nvSpPr>
          <p:cNvPr id="3" name="Rectangle: Rounded Corners 2">
            <a:extLst>
              <a:ext uri="{FF2B5EF4-FFF2-40B4-BE49-F238E27FC236}">
                <a16:creationId xmlns:a16="http://schemas.microsoft.com/office/drawing/2014/main" id="{DE2CF909-342D-53BF-120E-D0246CE6C841}"/>
              </a:ext>
            </a:extLst>
          </p:cNvPr>
          <p:cNvSpPr/>
          <p:nvPr/>
        </p:nvSpPr>
        <p:spPr>
          <a:xfrm>
            <a:off x="699770" y="355600"/>
            <a:ext cx="10792460" cy="736600"/>
          </a:xfrm>
          <a:prstGeom prst="roundRect">
            <a:avLst/>
          </a:prstGeom>
          <a:solidFill>
            <a:srgbClr val="4169E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101600" rIns="254000" bIns="101600" rtlCol="0" anchor="ctr"/>
          <a:lstStyle/>
          <a:p>
            <a:pPr algn="ctr"/>
            <a:r>
              <a:rPr lang="en-US" sz="2800" b="1">
                <a:solidFill>
                  <a:srgbClr val="FFFFFF"/>
                </a:solidFill>
                <a:latin typeface="Aptos Display" panose="020B0004020202020204" pitchFamily="34" charset="0"/>
              </a:rPr>
              <a:t>Conclusions &amp; Engineering Recommendations</a:t>
            </a:r>
          </a:p>
        </p:txBody>
      </p:sp>
      <p:sp>
        <p:nvSpPr>
          <p:cNvPr id="6" name="Rectangle: Rounded Corners 5">
            <a:extLst>
              <a:ext uri="{FF2B5EF4-FFF2-40B4-BE49-F238E27FC236}">
                <a16:creationId xmlns:a16="http://schemas.microsoft.com/office/drawing/2014/main" id="{0667D65E-62ED-0A57-B74D-8978F69E4810}"/>
              </a:ext>
            </a:extLst>
          </p:cNvPr>
          <p:cNvSpPr/>
          <p:nvPr/>
        </p:nvSpPr>
        <p:spPr>
          <a:xfrm>
            <a:off x="923455" y="1553087"/>
            <a:ext cx="10430345" cy="1954572"/>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200"/>
              </a:spcAft>
            </a:pPr>
            <a:r>
              <a:rPr lang="en-US" sz="1600" b="1" dirty="0">
                <a:solidFill>
                  <a:srgbClr val="143CA0"/>
                </a:solidFill>
                <a:latin typeface="Aptos" panose="020B0004020202020204" pitchFamily="34" charset="0"/>
              </a:rPr>
              <a:t>3. Numerical Mesh Convergence Validation</a:t>
            </a:r>
            <a:endParaRPr lang="en-US" sz="1300" b="1" dirty="0">
              <a:solidFill>
                <a:srgbClr val="143CA0"/>
              </a:solidFill>
              <a:latin typeface="Aptos" panose="020B0004020202020204" pitchFamily="34" charset="0"/>
            </a:endParaRP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Systematic Convergence Grid: 4 mesh levels evaluated from 81,952 to 113,902 C3D10 quadratic tetrahedral elements
Displacement Invariance: Global displacement converged within 1.75% relative change, proving stiffness stabilization
Stress Convergence: Coarse-to-medium meshes stabilized stress within 1.09% (16mm vs 12mm)
Finer 9mm Model (★): Accurately captures sharper localized contact peak (50.08 MPa) across active contact lines</a:t>
            </a:r>
          </a:p>
        </p:txBody>
      </p:sp>
      <p:sp>
        <p:nvSpPr>
          <p:cNvPr id="7" name="Rectangle: Rounded Corners 6">
            <a:extLst>
              <a:ext uri="{FF2B5EF4-FFF2-40B4-BE49-F238E27FC236}">
                <a16:creationId xmlns:a16="http://schemas.microsoft.com/office/drawing/2014/main" id="{8EABBA5E-0BCE-57A1-3C43-1EF48779746F}"/>
              </a:ext>
            </a:extLst>
          </p:cNvPr>
          <p:cNvSpPr/>
          <p:nvPr/>
        </p:nvSpPr>
        <p:spPr>
          <a:xfrm>
            <a:off x="880827" y="3940891"/>
            <a:ext cx="10430345" cy="1954573"/>
          </a:xfrm>
          <a:prstGeom prst="roundRect">
            <a:avLst/>
          </a:prstGeom>
          <a:solidFill>
            <a:srgbClr val="F8FAFD"/>
          </a:solidFill>
          <a:ln w="15240">
            <a:solidFill>
              <a:srgbClr val="CDDAEB"/>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101600" rIns="177800" bIns="101600" rtlCol="0" anchor="ctr"/>
          <a:lstStyle/>
          <a:p>
            <a:pPr>
              <a:spcAft>
                <a:spcPts val="600"/>
              </a:spcAft>
            </a:pPr>
            <a:r>
              <a:rPr lang="en-US" sz="1600" b="1" dirty="0">
                <a:solidFill>
                  <a:srgbClr val="143CA0"/>
                </a:solidFill>
                <a:latin typeface="Aptos" panose="020B0004020202020204" pitchFamily="34" charset="0"/>
              </a:rPr>
              <a:t>4. Future Web Publishing &amp; Interactive Assets</a:t>
            </a:r>
            <a:endParaRPr lang="en-US" sz="1300" b="1" dirty="0">
              <a:solidFill>
                <a:srgbClr val="143CA0"/>
              </a:solidFill>
              <a:latin typeface="Aptos" panose="020B0004020202020204" pitchFamily="34" charset="0"/>
            </a:endParaRPr>
          </a:p>
          <a:p>
            <a:pPr marL="285750" indent="-285750">
              <a:spcAft>
                <a:spcPts val="600"/>
              </a:spcAft>
              <a:buFont typeface="Arial" panose="020B0604020202020204" pitchFamily="34" charset="0"/>
              <a:buChar char="•"/>
            </a:pPr>
            <a:r>
              <a:rPr lang="en-US" sz="1300" b="1" dirty="0">
                <a:solidFill>
                  <a:schemeClr val="tx1"/>
                </a:solidFill>
                <a:latin typeface="Aptos" panose="020B0004020202020204" pitchFamily="34" charset="0"/>
              </a:rPr>
              <a:t>Standardized Directory Structure: Cleanly structured media/ folder containing 20 numbered HD GUI screenshots
Transient Simulation Videos: 3 full-length transient animations (von Mises stress, displacement, contact engagement)
Modular Automated Scripts: Clean sequential Python pipeline ready for automated distribution and replication
Web Deployment Ready: High-resolution figures and structured data files prepared for web dashboard integration</a:t>
            </a:r>
          </a:p>
        </p:txBody>
      </p:sp>
    </p:spTree>
    <p:extLst>
      <p:ext uri="{BB962C8B-B14F-4D97-AF65-F5344CB8AC3E}">
        <p14:creationId xmlns:p14="http://schemas.microsoft.com/office/powerpoint/2010/main" val="1375398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1495</TotalTime>
  <Words>2585</Words>
  <Application>Microsoft Office PowerPoint</Application>
  <PresentationFormat>Widescreen</PresentationFormat>
  <Paragraphs>224</Paragraphs>
  <Slides>26</Slides>
  <Notes>11</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Cambria Math</vt:lpstr>
      <vt:lpstr>Google Sans Text</vt:lpstr>
      <vt:lpstr>Wingdings</vt:lpstr>
      <vt:lpstr>Office Theme</vt:lpstr>
      <vt:lpstr>3D Contact Stress &amp; Plasticity Analysis of Spur Gears</vt:lpstr>
      <vt:lpstr>Objectives &amp; Engineering Strategy</vt:lpstr>
      <vt:lpstr>Geometric Design Parameters</vt:lpstr>
      <vt:lpstr>Critical Engineering Assumptions</vt:lpstr>
      <vt:lpstr>Simulation Workflow</vt:lpstr>
      <vt:lpstr>Material Definition: Stainless Steel</vt:lpstr>
      <vt:lpstr>Parametric CAD Generation</vt:lpstr>
      <vt:lpstr>Parametric CAD Generation</vt:lpstr>
      <vt:lpstr>Parametric CAD Generation</vt:lpstr>
      <vt:lpstr>CAD to CAE Integration</vt:lpstr>
      <vt:lpstr>Material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H.P.Sandun Premakumara</dc:creator>
  <cp:lastModifiedBy>Sandun Premakumara</cp:lastModifiedBy>
  <cp:revision>13</cp:revision>
  <dcterms:created xsi:type="dcterms:W3CDTF">2025-11-26T16:31:32Z</dcterms:created>
  <dcterms:modified xsi:type="dcterms:W3CDTF">2026-09-25T14:31:09Z</dcterms:modified>
</cp:coreProperties>
</file>